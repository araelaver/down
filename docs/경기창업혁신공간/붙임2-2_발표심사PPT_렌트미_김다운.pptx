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303" r:id="rId4"/>
    <p:sldId id="306" r:id="rId5"/>
    <p:sldId id="312" r:id="rId6"/>
    <p:sldId id="315" r:id="rId7"/>
    <p:sldId id="305" r:id="rId8"/>
    <p:sldId id="307" r:id="rId9"/>
    <p:sldId id="314" r:id="rId10"/>
    <p:sldId id="300" r:id="rId11"/>
  </p:sldIdLst>
  <p:sldSz cx="9144000" cy="6858000" type="screen4x3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FF9999"/>
    <a:srgbClr val="FFFF66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보통 스타일 1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67" autoAdjust="0"/>
    <p:restoredTop sz="94131" autoAdjust="0"/>
  </p:normalViewPr>
  <p:slideViewPr>
    <p:cSldViewPr>
      <p:cViewPr varScale="1">
        <p:scale>
          <a:sx n="106" d="100"/>
          <a:sy n="106" d="100"/>
        </p:scale>
        <p:origin x="2040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commentAuthors" Target="commentAuthors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59548F-4BA9-4276-8CED-B91AA9EFE34D}" type="datetimeFigureOut">
              <a:rPr lang="ko-KR" altLang="en-US" smtClean="0"/>
              <a:pPr/>
              <a:t>2026-02-23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4BE3D3-667E-4E0A-BCD0-ADD1A141D3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1421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F9F081-29D6-4933-88BA-2694DE7C75E4}" type="datetimeFigureOut">
              <a:rPr lang="ko-KR" altLang="en-US" smtClean="0"/>
              <a:pPr/>
              <a:t>2026-02-23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3498F5-1863-4326-AE9F-07B1E46BDE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716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498F5-1863-4326-AE9F-07B1E46BDE22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79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498F5-1863-4326-AE9F-07B1E46BDE22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478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498F5-1863-4326-AE9F-07B1E46BDE22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09967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498F5-1863-4326-AE9F-07B1E46BDE22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65271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498F5-1863-4326-AE9F-07B1E46BDE22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72697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498F5-1863-4326-AE9F-07B1E46BDE22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498F5-1863-4326-AE9F-07B1E46BDE22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134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498F5-1863-4326-AE9F-07B1E46BDE22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88605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8005B-A48E-4F0C-B96B-F928E6D27A7D}" type="datetime1">
              <a:rPr lang="ko-KR" altLang="en-US" smtClean="0"/>
              <a:pPr/>
              <a:t>2026-02-23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A3E3-25FC-48B3-9BA0-5257658B751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621C6-28AE-4D1E-B30A-1A1025E14814}" type="datetime1">
              <a:rPr lang="ko-KR" altLang="en-US" smtClean="0"/>
              <a:pPr/>
              <a:t>2026-02-23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A3E3-25FC-48B3-9BA0-5257658B751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CB748-3232-4BD7-98E6-AC25B3EBBA49}" type="datetime1">
              <a:rPr lang="ko-KR" altLang="en-US" smtClean="0"/>
              <a:pPr/>
              <a:t>2026-02-23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A3E3-25FC-48B3-9BA0-5257658B751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96533-712A-4E99-876F-D6F841EBD310}" type="datetime1">
              <a:rPr lang="ko-KR" altLang="en-US" smtClean="0"/>
              <a:pPr/>
              <a:t>2026-02-23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A3E3-25FC-48B3-9BA0-5257658B751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3AB37-B9D0-4C7E-BE15-C789512BC966}" type="datetime1">
              <a:rPr lang="ko-KR" altLang="en-US" smtClean="0"/>
              <a:pPr/>
              <a:t>2026-02-23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A3E3-25FC-48B3-9BA0-5257658B751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32DD8-DDFB-4D2E-9C7D-3C8244CEA803}" type="datetime1">
              <a:rPr lang="ko-KR" altLang="en-US" smtClean="0"/>
              <a:pPr/>
              <a:t>2026-02-23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A3E3-25FC-48B3-9BA0-5257658B751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3B57-6F50-40C3-9C23-9613D470F48A}" type="datetime1">
              <a:rPr lang="ko-KR" altLang="en-US" smtClean="0"/>
              <a:pPr/>
              <a:t>2026-02-23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A3E3-25FC-48B3-9BA0-5257658B751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AD445-3F97-42B1-BE95-B3DE82F63345}" type="datetime1">
              <a:rPr lang="ko-KR" altLang="en-US" smtClean="0"/>
              <a:pPr/>
              <a:t>2026-02-23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A3E3-25FC-48B3-9BA0-5257658B751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2B003-ECE2-4C09-81CB-17941C874D1D}" type="datetime1">
              <a:rPr lang="ko-KR" altLang="en-US" smtClean="0"/>
              <a:pPr/>
              <a:t>2026-02-23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A3E3-25FC-48B3-9BA0-5257658B751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14421-F5A5-43BD-AF9C-D6F4D96AED1B}" type="datetime1">
              <a:rPr lang="ko-KR" altLang="en-US" smtClean="0"/>
              <a:pPr/>
              <a:t>2026-02-23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A3E3-25FC-48B3-9BA0-5257658B751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567E5-E0AC-4EA8-8CCB-A5D525E32558}" type="datetime1">
              <a:rPr lang="ko-KR" altLang="en-US" smtClean="0"/>
              <a:pPr/>
              <a:t>2026-02-23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A3E3-25FC-48B3-9BA0-5257658B751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ACD8FB-B545-47EC-84C1-46E3021F8F77}" type="datetime1">
              <a:rPr lang="ko-KR" altLang="en-US" smtClean="0"/>
              <a:pPr/>
              <a:t>2026-02-23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37A3E3-25FC-48B3-9BA0-5257658B751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760979" y="3822516"/>
            <a:ext cx="1449436" cy="48212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1330325" eaLnBrk="0" latinLnBrk="0" hangingPunct="0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  <a:buSzPct val="100000"/>
              <a:defRPr/>
            </a:pPr>
            <a:r>
              <a:rPr sz="2000" b="0">
                <a:solidFill>
                  <a:srgbClr val="2D2D2D"/>
                </a:solidFill>
                <a:latin typeface="HY헤드라인M"/>
              </a:rPr>
              <a:t>2026. 03. 26.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847799" y="2241427"/>
            <a:ext cx="59855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330325" eaLnBrk="0" latinLnBrk="0" hangingPunct="0">
              <a:buSzPct val="100000"/>
              <a:defRPr/>
            </a:pPr>
            <a:endParaRPr lang="ko-KR" altLang="en-US" sz="2000" kern="0" spc="-150" dirty="0">
              <a:gradFill>
                <a:gsLst>
                  <a:gs pos="0">
                    <a:srgbClr val="1F497D">
                      <a:lumMod val="50000"/>
                    </a:srgbClr>
                  </a:gs>
                  <a:gs pos="100000">
                    <a:srgbClr val="004D86"/>
                  </a:gs>
                </a:gsLst>
                <a:lin ang="5400000" scaled="0"/>
              </a:gra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259632" y="5085184"/>
            <a:ext cx="6848983" cy="9079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1330325" eaLnBrk="0" latinLnBrk="0" hangingPunct="0">
              <a:spcBef>
                <a:spcPts val="100"/>
              </a:spcBef>
              <a:spcAft>
                <a:spcPts val="100"/>
              </a:spcAft>
              <a:buSzPct val="100000"/>
              <a:defRPr/>
            </a:pPr>
            <a:r>
              <a:rPr sz="3000" b="1">
                <a:solidFill>
                  <a:srgbClr val="2D2D2D"/>
                </a:solidFill>
                <a:latin typeface="HY헤드라인M"/>
              </a:rPr>
              <a:t>렌트미 (RentMe)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400" b="0">
                <a:solidFill>
                  <a:srgbClr val="2D2D2D"/>
                </a:solidFill>
                <a:latin typeface="HY헤드라인M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600" b="0">
                <a:solidFill>
                  <a:srgbClr val="0070C0"/>
                </a:solidFill>
                <a:latin typeface="HY헤드라인M"/>
              </a:rPr>
              <a:t>"세입자의 LinkedIn"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600" b="0">
                <a:solidFill>
                  <a:srgbClr val="2D2D2D"/>
                </a:solidFill>
                <a:latin typeface="HY헤드라인M"/>
              </a:rPr>
              <a:t>AI 기반 세입자 신뢰 프로필 플랫폼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400" b="0">
                <a:solidFill>
                  <a:srgbClr val="2D2D2D"/>
                </a:solidFill>
                <a:latin typeface="HY헤드라인M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800" b="1">
                <a:solidFill>
                  <a:srgbClr val="2D2D2D"/>
                </a:solidFill>
                <a:latin typeface="HY헤드라인M"/>
              </a:rPr>
              <a:t>대표  김다운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83AFDD9-8618-4D37-8BDB-6C7BE45CF000}"/>
              </a:ext>
            </a:extLst>
          </p:cNvPr>
          <p:cNvGrpSpPr/>
          <p:nvPr/>
        </p:nvGrpSpPr>
        <p:grpSpPr>
          <a:xfrm>
            <a:off x="1185840" y="2060848"/>
            <a:ext cx="6922775" cy="1205216"/>
            <a:chOff x="1185840" y="1588137"/>
            <a:chExt cx="6922775" cy="1205216"/>
          </a:xfrm>
        </p:grpSpPr>
        <p:sp>
          <p:nvSpPr>
            <p:cNvPr id="6" name="자유형 5"/>
            <p:cNvSpPr/>
            <p:nvPr/>
          </p:nvSpPr>
          <p:spPr>
            <a:xfrm>
              <a:off x="1185840" y="2747634"/>
              <a:ext cx="6922775" cy="45719"/>
            </a:xfrm>
            <a:custGeom>
              <a:avLst/>
              <a:gdLst>
                <a:gd name="connsiteX0" fmla="*/ 0 w 7879404"/>
                <a:gd name="connsiteY0" fmla="*/ 0 h 0"/>
                <a:gd name="connsiteX1" fmla="*/ 7879404 w 7879404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79404">
                  <a:moveTo>
                    <a:pt x="0" y="0"/>
                  </a:moveTo>
                  <a:lnTo>
                    <a:pt x="7879404" y="0"/>
                  </a:lnTo>
                </a:path>
              </a:pathLst>
            </a:custGeom>
            <a:noFill/>
            <a:ln w="31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prstClr val="white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18" name="Text Box 8"/>
            <p:cNvSpPr txBox="1">
              <a:spLocks noChangeArrowheads="1"/>
            </p:cNvSpPr>
            <p:nvPr/>
          </p:nvSpPr>
          <p:spPr bwMode="auto">
            <a:xfrm>
              <a:off x="1186499" y="1588137"/>
              <a:ext cx="6815599" cy="107721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/>
              <a:r>
                <a:rPr lang="ko-KR" altLang="en-US" sz="3200" kern="0" spc="-380" dirty="0">
                  <a:ln w="11430"/>
                  <a:gradFill>
                    <a:gsLst>
                      <a:gs pos="44000">
                        <a:srgbClr val="004785">
                          <a:lumMod val="60000"/>
                          <a:lumOff val="40000"/>
                        </a:srgbClr>
                      </a:gs>
                      <a:gs pos="59000">
                        <a:srgbClr val="004785">
                          <a:lumMod val="75000"/>
                        </a:srgbClr>
                      </a:gs>
                      <a:gs pos="100000">
                        <a:srgbClr val="0070C0"/>
                      </a:gs>
                      <a:gs pos="0">
                        <a:srgbClr val="0F243D"/>
                      </a:gs>
                      <a:gs pos="100000">
                        <a:srgbClr val="004785">
                          <a:lumMod val="50000"/>
                        </a:srgbClr>
                      </a:gs>
                    </a:gsLst>
                    <a:lin ang="5400000" scaled="0"/>
                  </a:gradFill>
                  <a:effectLst>
                    <a:outerShdw blurRad="38100" dist="127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HY견고딕" pitchFamily="18" charset="-127"/>
                  <a:ea typeface="HY견고딕" pitchFamily="18" charset="-127"/>
                </a:rPr>
                <a:t> 경기</a:t>
              </a:r>
              <a:r>
                <a:rPr lang="ko-KR" altLang="en-US" sz="3200" kern="0" spc="-380" dirty="0">
                  <a:ln w="11430"/>
                  <a:gradFill>
                    <a:gsLst>
                      <a:gs pos="44000">
                        <a:srgbClr val="004785">
                          <a:lumMod val="60000"/>
                          <a:lumOff val="40000"/>
                        </a:srgbClr>
                      </a:gs>
                      <a:gs pos="59000">
                        <a:srgbClr val="004785">
                          <a:lumMod val="75000"/>
                        </a:srgbClr>
                      </a:gs>
                      <a:gs pos="100000">
                        <a:srgbClr val="0070C0"/>
                      </a:gs>
                      <a:gs pos="0">
                        <a:srgbClr val="0F243D"/>
                      </a:gs>
                      <a:gs pos="100000">
                        <a:srgbClr val="004785">
                          <a:lumMod val="50000"/>
                        </a:srgbClr>
                      </a:gs>
                    </a:gsLst>
                    <a:lin ang="5400000" scaled="0"/>
                  </a:gradFill>
                  <a:effectLst>
                    <a:outerShdw blurRad="38100" dist="127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창업혁신공간</a:t>
              </a:r>
              <a:r>
                <a:rPr lang="en-US" altLang="ko-KR" sz="3200" kern="0" spc="-380" dirty="0">
                  <a:ln w="11430"/>
                  <a:gradFill>
                    <a:gsLst>
                      <a:gs pos="44000">
                        <a:srgbClr val="004785">
                          <a:lumMod val="60000"/>
                          <a:lumOff val="40000"/>
                        </a:srgbClr>
                      </a:gs>
                      <a:gs pos="59000">
                        <a:srgbClr val="004785">
                          <a:lumMod val="75000"/>
                        </a:srgbClr>
                      </a:gs>
                      <a:gs pos="100000">
                        <a:srgbClr val="0070C0"/>
                      </a:gs>
                      <a:gs pos="0">
                        <a:srgbClr val="0F243D"/>
                      </a:gs>
                      <a:gs pos="100000">
                        <a:srgbClr val="004785">
                          <a:lumMod val="50000"/>
                        </a:srgbClr>
                      </a:gs>
                    </a:gsLst>
                    <a:lin ang="5400000" scaled="0"/>
                  </a:gradFill>
                  <a:effectLst>
                    <a:outerShdw blurRad="38100" dist="127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(</a:t>
              </a:r>
              <a:r>
                <a:rPr lang="ko-KR" altLang="en-US" sz="3200" kern="0" spc="-380" dirty="0">
                  <a:ln w="11430"/>
                  <a:gradFill>
                    <a:gsLst>
                      <a:gs pos="44000">
                        <a:srgbClr val="004785">
                          <a:lumMod val="60000"/>
                          <a:lumOff val="40000"/>
                        </a:srgbClr>
                      </a:gs>
                      <a:gs pos="59000">
                        <a:srgbClr val="004785">
                          <a:lumMod val="75000"/>
                        </a:srgbClr>
                      </a:gs>
                      <a:gs pos="100000">
                        <a:srgbClr val="0070C0"/>
                      </a:gs>
                      <a:gs pos="0">
                        <a:srgbClr val="0F243D"/>
                      </a:gs>
                      <a:gs pos="100000">
                        <a:srgbClr val="004785">
                          <a:lumMod val="50000"/>
                        </a:srgbClr>
                      </a:gs>
                    </a:gsLst>
                    <a:lin ang="5400000" scaled="0"/>
                  </a:gradFill>
                  <a:effectLst>
                    <a:outerShdw blurRad="38100" dist="127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동부권역</a:t>
              </a:r>
              <a:r>
                <a:rPr lang="en-US" altLang="ko-KR" sz="3200" kern="0" spc="-380" dirty="0">
                  <a:ln w="11430"/>
                  <a:gradFill>
                    <a:gsLst>
                      <a:gs pos="44000">
                        <a:srgbClr val="004785">
                          <a:lumMod val="60000"/>
                          <a:lumOff val="40000"/>
                        </a:srgbClr>
                      </a:gs>
                      <a:gs pos="59000">
                        <a:srgbClr val="004785">
                          <a:lumMod val="75000"/>
                        </a:srgbClr>
                      </a:gs>
                      <a:gs pos="100000">
                        <a:srgbClr val="0070C0"/>
                      </a:gs>
                      <a:gs pos="0">
                        <a:srgbClr val="0F243D"/>
                      </a:gs>
                      <a:gs pos="100000">
                        <a:srgbClr val="004785">
                          <a:lumMod val="50000"/>
                        </a:srgbClr>
                      </a:gs>
                    </a:gsLst>
                    <a:lin ang="5400000" scaled="0"/>
                  </a:gradFill>
                  <a:effectLst>
                    <a:outerShdw blurRad="38100" dist="127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_</a:t>
              </a:r>
              <a:r>
                <a:rPr lang="ko-KR" altLang="en-US" sz="3200" kern="0" spc="-380" dirty="0">
                  <a:ln w="11430"/>
                  <a:gradFill>
                    <a:gsLst>
                      <a:gs pos="44000">
                        <a:srgbClr val="004785">
                          <a:lumMod val="60000"/>
                          <a:lumOff val="40000"/>
                        </a:srgbClr>
                      </a:gs>
                      <a:gs pos="59000">
                        <a:srgbClr val="004785">
                          <a:lumMod val="75000"/>
                        </a:srgbClr>
                      </a:gs>
                      <a:gs pos="100000">
                        <a:srgbClr val="0070C0"/>
                      </a:gs>
                      <a:gs pos="0">
                        <a:srgbClr val="0F243D"/>
                      </a:gs>
                      <a:gs pos="100000">
                        <a:srgbClr val="004785">
                          <a:lumMod val="50000"/>
                        </a:srgbClr>
                      </a:gs>
                    </a:gsLst>
                    <a:lin ang="5400000" scaled="0"/>
                  </a:gradFill>
                  <a:effectLst>
                    <a:outerShdw blurRad="38100" dist="127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하남</a:t>
              </a:r>
              <a:r>
                <a:rPr lang="en-US" altLang="ko-KR" sz="3200" kern="0" spc="-380" dirty="0">
                  <a:ln w="11430"/>
                  <a:gradFill>
                    <a:gsLst>
                      <a:gs pos="44000">
                        <a:srgbClr val="004785">
                          <a:lumMod val="60000"/>
                          <a:lumOff val="40000"/>
                        </a:srgbClr>
                      </a:gs>
                      <a:gs pos="59000">
                        <a:srgbClr val="004785">
                          <a:lumMod val="75000"/>
                        </a:srgbClr>
                      </a:gs>
                      <a:gs pos="100000">
                        <a:srgbClr val="0070C0"/>
                      </a:gs>
                      <a:gs pos="0">
                        <a:srgbClr val="0F243D"/>
                      </a:gs>
                      <a:gs pos="100000">
                        <a:srgbClr val="004785">
                          <a:lumMod val="50000"/>
                        </a:srgbClr>
                      </a:gs>
                    </a:gsLst>
                    <a:lin ang="5400000" scaled="0"/>
                  </a:gradFill>
                  <a:effectLst>
                    <a:outerShdw blurRad="38100" dist="127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)</a:t>
              </a:r>
              <a:r>
                <a:rPr lang="ko-KR" altLang="en-US" sz="3200" kern="0" spc="-380" dirty="0">
                  <a:ln w="11430"/>
                  <a:gradFill>
                    <a:gsLst>
                      <a:gs pos="44000">
                        <a:srgbClr val="004785">
                          <a:lumMod val="60000"/>
                          <a:lumOff val="40000"/>
                        </a:srgbClr>
                      </a:gs>
                      <a:gs pos="59000">
                        <a:srgbClr val="004785">
                          <a:lumMod val="75000"/>
                        </a:srgbClr>
                      </a:gs>
                      <a:gs pos="100000">
                        <a:srgbClr val="0070C0"/>
                      </a:gs>
                      <a:gs pos="0">
                        <a:srgbClr val="0F243D"/>
                      </a:gs>
                      <a:gs pos="100000">
                        <a:srgbClr val="004785">
                          <a:lumMod val="50000"/>
                        </a:srgbClr>
                      </a:gs>
                    </a:gsLst>
                    <a:lin ang="5400000" scaled="0"/>
                  </a:gradFill>
                  <a:effectLst>
                    <a:outerShdw blurRad="38100" dist="127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</a:t>
              </a:r>
              <a:endParaRPr lang="en-US" altLang="ko-KR" sz="3200" kern="0" spc="-380" dirty="0">
                <a:ln w="11430"/>
                <a:gradFill>
                  <a:gsLst>
                    <a:gs pos="44000">
                      <a:srgbClr val="004785">
                        <a:lumMod val="60000"/>
                        <a:lumOff val="40000"/>
                      </a:srgbClr>
                    </a:gs>
                    <a:gs pos="59000">
                      <a:srgbClr val="004785">
                        <a:lumMod val="75000"/>
                      </a:srgbClr>
                    </a:gs>
                    <a:gs pos="100000">
                      <a:srgbClr val="0070C0"/>
                    </a:gs>
                    <a:gs pos="0">
                      <a:srgbClr val="0F243D"/>
                    </a:gs>
                    <a:gs pos="100000">
                      <a:srgbClr val="004785">
                        <a:lumMod val="50000"/>
                      </a:srgbClr>
                    </a:gs>
                  </a:gsLst>
                  <a:lin ang="5400000" scaled="0"/>
                </a:gradFill>
                <a:effectLst>
                  <a:outerShdw blurRad="38100" dist="12700" dir="5400000" algn="tl" rotWithShape="0">
                    <a:srgbClr val="000000">
                      <a:alpha val="30000"/>
                    </a:srgbClr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 algn="ctr" latinLnBrk="0"/>
              <a:r>
                <a:rPr lang="ko-KR" altLang="en-US" sz="3200" kern="0" spc="-380" dirty="0">
                  <a:ln w="11430"/>
                  <a:gradFill>
                    <a:gsLst>
                      <a:gs pos="44000">
                        <a:srgbClr val="004785">
                          <a:lumMod val="60000"/>
                          <a:lumOff val="40000"/>
                        </a:srgbClr>
                      </a:gs>
                      <a:gs pos="59000">
                        <a:srgbClr val="004785">
                          <a:lumMod val="75000"/>
                        </a:srgbClr>
                      </a:gs>
                      <a:gs pos="100000">
                        <a:srgbClr val="0070C0"/>
                      </a:gs>
                      <a:gs pos="0">
                        <a:srgbClr val="0F243D"/>
                      </a:gs>
                      <a:gs pos="100000">
                        <a:srgbClr val="004785">
                          <a:lumMod val="50000"/>
                        </a:srgbClr>
                      </a:gs>
                    </a:gsLst>
                    <a:lin ang="5400000" scaled="0"/>
                  </a:gradFill>
                  <a:effectLst>
                    <a:outerShdw blurRad="38100" dist="127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입주평가  발표</a:t>
              </a:r>
            </a:p>
          </p:txBody>
        </p:sp>
      </p:grpSp>
      <p:sp>
        <p:nvSpPr>
          <p:cNvPr id="10" name="직사각형 9"/>
          <p:cNvSpPr/>
          <p:nvPr/>
        </p:nvSpPr>
        <p:spPr>
          <a:xfrm>
            <a:off x="157479" y="142852"/>
            <a:ext cx="1242648" cy="553998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1330325" eaLnBrk="0" latinLnBrk="0" hangingPunct="0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  <a:buSzPct val="100000"/>
              <a:defRPr/>
            </a:pPr>
            <a:r>
              <a:rPr sz="2000" b="1">
                <a:solidFill>
                  <a:srgbClr val="0070C0"/>
                </a:solidFill>
                <a:latin typeface="HY헤드라인M"/>
              </a:rPr>
              <a:t>RentMe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9872" y="79502"/>
            <a:ext cx="56127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7F8C8D"/>
                </a:solidFill>
                <a:latin typeface="맑은 고딕"/>
              </a:rPr>
              <a:t>좋은 세입자임을 증명하면 보증금이 달라집니다</a:t>
            </a:r>
            <a:endParaRPr lang="en-US" altLang="ko-KR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그룹 22"/>
          <p:cNvGrpSpPr/>
          <p:nvPr/>
        </p:nvGrpSpPr>
        <p:grpSpPr>
          <a:xfrm>
            <a:off x="-14025" y="0"/>
            <a:ext cx="5453101" cy="6858000"/>
            <a:chOff x="0" y="0"/>
            <a:chExt cx="5453101" cy="6858000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21" name="직사각형 20"/>
            <p:cNvSpPr/>
            <p:nvPr/>
          </p:nvSpPr>
          <p:spPr>
            <a:xfrm>
              <a:off x="0" y="0"/>
              <a:ext cx="392909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22" name="직각 삼각형 21"/>
            <p:cNvSpPr/>
            <p:nvPr/>
          </p:nvSpPr>
          <p:spPr>
            <a:xfrm>
              <a:off x="3929092" y="0"/>
              <a:ext cx="1524009" cy="6858000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sp>
        <p:nvSpPr>
          <p:cNvPr id="4" name="직사각형 3"/>
          <p:cNvSpPr/>
          <p:nvPr/>
        </p:nvSpPr>
        <p:spPr>
          <a:xfrm>
            <a:off x="553652" y="1522993"/>
            <a:ext cx="4317749" cy="5078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330325" eaLnBrk="0" latinLnBrk="0" hangingPunct="0">
              <a:lnSpc>
                <a:spcPct val="150000"/>
              </a:lnSpc>
              <a:spcAft>
                <a:spcPts val="600"/>
              </a:spcAft>
              <a:buSzPct val="100000"/>
              <a:defRPr/>
            </a:pPr>
            <a:r>
              <a:rPr lang="en-US" altLang="ko-KR" kern="0" spc="-4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1.  </a:t>
            </a:r>
            <a:r>
              <a:rPr lang="ko-KR" altLang="en-US" kern="0" spc="-4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회사소개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551751" y="2342654"/>
            <a:ext cx="3696514" cy="5078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330325" eaLnBrk="0" latinLnBrk="0" hangingPunct="0">
              <a:lnSpc>
                <a:spcPct val="150000"/>
              </a:lnSpc>
              <a:spcAft>
                <a:spcPts val="600"/>
              </a:spcAft>
              <a:buSzPct val="100000"/>
              <a:defRPr/>
            </a:pPr>
            <a:r>
              <a:rPr lang="en-US" altLang="ko-KR" kern="0" spc="-4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2.  </a:t>
            </a:r>
            <a:r>
              <a:rPr lang="ko-KR" altLang="en-US" kern="0" spc="-40" dirty="0" err="1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기술성</a:t>
            </a:r>
            <a:endParaRPr lang="ko-KR" altLang="en-US" kern="0" spc="-40" dirty="0">
              <a:solidFill>
                <a:schemeClr val="bg1">
                  <a:lumMod val="9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4716016" y="157140"/>
            <a:ext cx="4409439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330325" eaLnBrk="0" latinLnBrk="0" hangingPunct="0">
              <a:buSzPct val="100000"/>
              <a:defRPr/>
            </a:pPr>
            <a:r>
              <a:rPr lang="ko-KR" altLang="en-US" sz="2000" b="1" kern="0" spc="-150" dirty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경기창업혁신공간 </a:t>
            </a:r>
            <a:r>
              <a:rPr lang="en-US" altLang="ko-KR" sz="2000" b="1" kern="0" spc="-150" dirty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2000" b="1" kern="0" spc="-150" dirty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latin typeface="HY헤드라인M" panose="02030600000101010101" pitchFamily="18" charset="-127"/>
                <a:ea typeface="HY헤드라인M" panose="02030600000101010101" pitchFamily="18" charset="-127"/>
              </a:rPr>
              <a:t>동부권역</a:t>
            </a:r>
            <a:r>
              <a:rPr lang="en-US" altLang="ko-KR" sz="2000" b="1" kern="0" spc="-150" dirty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latin typeface="HY헤드라인M" panose="02030600000101010101" pitchFamily="18" charset="-127"/>
                <a:ea typeface="HY헤드라인M" panose="02030600000101010101" pitchFamily="18" charset="-127"/>
              </a:rPr>
              <a:t>_</a:t>
            </a:r>
            <a:r>
              <a:rPr lang="ko-KR" altLang="en-US" sz="2000" b="1" kern="0" spc="-150" dirty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latin typeface="HY헤드라인M" panose="02030600000101010101" pitchFamily="18" charset="-127"/>
                <a:ea typeface="HY헤드라인M" panose="02030600000101010101" pitchFamily="18" charset="-127"/>
              </a:rPr>
              <a:t>하남</a:t>
            </a:r>
            <a:r>
              <a:rPr lang="en-US" altLang="ko-KR" sz="2000" b="1" kern="0" spc="-150" dirty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sz="2000" kern="0" spc="-150" dirty="0">
              <a:gradFill>
                <a:gsLst>
                  <a:gs pos="0">
                    <a:srgbClr val="1F497D">
                      <a:lumMod val="50000"/>
                    </a:srgbClr>
                  </a:gs>
                  <a:gs pos="100000">
                    <a:srgbClr val="004D86"/>
                  </a:gs>
                </a:gsLst>
                <a:lin ang="5400000" scaled="0"/>
              </a:gra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6084168" y="466318"/>
            <a:ext cx="2643206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330325" eaLnBrk="0" latinLnBrk="0" hangingPunct="0">
              <a:buSzPct val="100000"/>
              <a:defRPr/>
            </a:pPr>
            <a:r>
              <a:rPr lang="ko-KR" altLang="en-US" sz="1600" kern="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신규 입주기업 발표 심사</a:t>
            </a:r>
            <a:endParaRPr lang="ko-KR" altLang="en-US" sz="1400" kern="0" spc="-150" dirty="0">
              <a:solidFill>
                <a:schemeClr val="tx1">
                  <a:lumMod val="65000"/>
                  <a:lumOff val="3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242923" y="600713"/>
            <a:ext cx="1571636" cy="5232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330325" eaLnBrk="0" latinLnBrk="0" hangingPunct="0">
              <a:buSzPct val="100000"/>
              <a:defRPr/>
            </a:pPr>
            <a:r>
              <a:rPr lang="ko-KR" altLang="en-US" sz="2800" b="1" kern="0" spc="-150" dirty="0">
                <a:solidFill>
                  <a:srgbClr val="00B0F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목  차</a:t>
            </a:r>
            <a:endParaRPr lang="ko-KR" altLang="en-US" sz="2400" kern="0" spc="-150" dirty="0">
              <a:solidFill>
                <a:srgbClr val="00B0F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4" name="자유형 23"/>
          <p:cNvSpPr/>
          <p:nvPr/>
        </p:nvSpPr>
        <p:spPr>
          <a:xfrm flipV="1">
            <a:off x="4186267" y="1052495"/>
            <a:ext cx="4953003" cy="71438"/>
          </a:xfrm>
          <a:custGeom>
            <a:avLst/>
            <a:gdLst>
              <a:gd name="connsiteX0" fmla="*/ 0 w 8334302"/>
              <a:gd name="connsiteY0" fmla="*/ 0 h 0"/>
              <a:gd name="connsiteX1" fmla="*/ 8334302 w 8334302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334302">
                <a:moveTo>
                  <a:pt x="0" y="0"/>
                </a:moveTo>
                <a:lnTo>
                  <a:pt x="8334302" y="0"/>
                </a:lnTo>
              </a:path>
            </a:pathLst>
          </a:custGeom>
          <a:noFill/>
          <a:ln w="19050" cap="rnd">
            <a:solidFill>
              <a:schemeClr val="accent1">
                <a:lumMod val="75000"/>
              </a:schemeClr>
            </a:solidFill>
            <a:tailEnd type="none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solidFill>
                <a:prstClr val="white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609351" y="4074696"/>
            <a:ext cx="4206350" cy="5078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330325" eaLnBrk="0" latinLnBrk="0" hangingPunct="0">
              <a:lnSpc>
                <a:spcPct val="150000"/>
              </a:lnSpc>
              <a:spcAft>
                <a:spcPts val="600"/>
              </a:spcAft>
              <a:buSzPct val="100000"/>
              <a:defRPr/>
            </a:pPr>
            <a:r>
              <a:rPr lang="en-US" altLang="ko-KR" kern="0" spc="-4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</a:t>
            </a:r>
            <a:r>
              <a:rPr lang="ko-KR" altLang="en-US" kern="0" spc="-4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성장성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588616" y="3207063"/>
            <a:ext cx="3696514" cy="5078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330325" eaLnBrk="0" latinLnBrk="0" hangingPunct="0">
              <a:lnSpc>
                <a:spcPct val="150000"/>
              </a:lnSpc>
              <a:spcAft>
                <a:spcPts val="600"/>
              </a:spcAft>
              <a:buSzPct val="100000"/>
              <a:defRPr/>
            </a:pPr>
            <a:r>
              <a:rPr lang="en-US" altLang="ko-KR" kern="0" spc="-4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 </a:t>
            </a:r>
            <a:r>
              <a:rPr lang="ko-KR" altLang="en-US" kern="0" spc="-4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사업성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609351" y="4947281"/>
            <a:ext cx="4206350" cy="5078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330325" eaLnBrk="0" latinLnBrk="0" hangingPunct="0">
              <a:lnSpc>
                <a:spcPct val="150000"/>
              </a:lnSpc>
              <a:spcAft>
                <a:spcPts val="600"/>
              </a:spcAft>
              <a:buSzPct val="100000"/>
              <a:defRPr/>
            </a:pPr>
            <a:r>
              <a:rPr lang="en-US" altLang="ko-KR" kern="0" spc="-4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kern="0" spc="-4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인증</a:t>
            </a:r>
            <a:r>
              <a:rPr lang="en-US" altLang="ko-KR" kern="0" spc="-4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/</a:t>
            </a:r>
            <a:r>
              <a:rPr lang="ko-KR" altLang="en-US" kern="0" spc="-4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수상 내역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611560" y="5801489"/>
            <a:ext cx="4206350" cy="5078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330325" eaLnBrk="0" latinLnBrk="0" hangingPunct="0">
              <a:lnSpc>
                <a:spcPct val="150000"/>
              </a:lnSpc>
              <a:spcAft>
                <a:spcPts val="600"/>
              </a:spcAft>
              <a:buSzPct val="100000"/>
              <a:defRPr/>
            </a:pPr>
            <a:r>
              <a:rPr lang="en-US" altLang="ko-KR" kern="0" spc="-4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kern="0" spc="-4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기타사항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65"/>
          <p:cNvGrpSpPr/>
          <p:nvPr/>
        </p:nvGrpSpPr>
        <p:grpSpPr>
          <a:xfrm>
            <a:off x="-32" y="-4786"/>
            <a:ext cx="9144032" cy="1244980"/>
            <a:chOff x="-32" y="-21034"/>
            <a:chExt cx="9144032" cy="1244980"/>
          </a:xfrm>
        </p:grpSpPr>
        <p:sp>
          <p:nvSpPr>
            <p:cNvPr id="3" name="직사각형 2"/>
            <p:cNvSpPr/>
            <p:nvPr/>
          </p:nvSpPr>
          <p:spPr>
            <a:xfrm>
              <a:off x="0" y="423865"/>
              <a:ext cx="9144000" cy="44290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4" name="직각 삼각형 3"/>
            <p:cNvSpPr/>
            <p:nvPr/>
          </p:nvSpPr>
          <p:spPr>
            <a:xfrm rot="5400000" flipV="1">
              <a:off x="211902" y="831038"/>
              <a:ext cx="357188" cy="428628"/>
            </a:xfrm>
            <a:prstGeom prst="rt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grpSp>
          <p:nvGrpSpPr>
            <p:cNvPr id="5" name="그룹 10"/>
            <p:cNvGrpSpPr/>
            <p:nvPr/>
          </p:nvGrpSpPr>
          <p:grpSpPr>
            <a:xfrm>
              <a:off x="0" y="-21034"/>
              <a:ext cx="9143999" cy="449638"/>
              <a:chOff x="4693403" y="1672032"/>
              <a:chExt cx="3921281" cy="354747"/>
            </a:xfrm>
          </p:grpSpPr>
          <p:sp>
            <p:nvSpPr>
              <p:cNvPr id="13" name="AutoShape 55"/>
              <p:cNvSpPr>
                <a:spLocks noChangeArrowheads="1"/>
              </p:cNvSpPr>
              <p:nvPr/>
            </p:nvSpPr>
            <p:spPr bwMode="auto">
              <a:xfrm>
                <a:off x="4693699" y="1672032"/>
                <a:ext cx="3920985" cy="354747"/>
              </a:xfrm>
              <a:prstGeom prst="roundRect">
                <a:avLst>
                  <a:gd name="adj" fmla="val 0"/>
                </a:avLst>
              </a:prstGeom>
              <a:solidFill>
                <a:srgbClr val="0070C0"/>
              </a:solidFill>
              <a:ln w="3175">
                <a:noFill/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>
                  <a:solidFill>
                    <a:prstClr val="black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</p:txBody>
          </p:sp>
          <p:sp>
            <p:nvSpPr>
              <p:cNvPr id="14" name="자유형 13"/>
              <p:cNvSpPr/>
              <p:nvPr/>
            </p:nvSpPr>
            <p:spPr>
              <a:xfrm>
                <a:off x="4693403" y="1672342"/>
                <a:ext cx="245068" cy="346220"/>
              </a:xfrm>
              <a:custGeom>
                <a:avLst/>
                <a:gdLst>
                  <a:gd name="connsiteX0" fmla="*/ 0 w 922421"/>
                  <a:gd name="connsiteY0" fmla="*/ 409074 h 409074"/>
                  <a:gd name="connsiteX1" fmla="*/ 922421 w 922421"/>
                  <a:gd name="connsiteY1" fmla="*/ 0 h 409074"/>
                  <a:gd name="connsiteX2" fmla="*/ 0 w 922421"/>
                  <a:gd name="connsiteY2" fmla="*/ 0 h 409074"/>
                  <a:gd name="connsiteX3" fmla="*/ 0 w 922421"/>
                  <a:gd name="connsiteY3" fmla="*/ 409074 h 409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2421" h="409074">
                    <a:moveTo>
                      <a:pt x="0" y="409074"/>
                    </a:moveTo>
                    <a:lnTo>
                      <a:pt x="922421" y="0"/>
                    </a:lnTo>
                    <a:lnTo>
                      <a:pt x="0" y="0"/>
                    </a:lnTo>
                    <a:lnTo>
                      <a:pt x="0" y="409074"/>
                    </a:lnTo>
                    <a:close/>
                  </a:path>
                </a:pathLst>
              </a:custGeom>
              <a:gradFill>
                <a:gsLst>
                  <a:gs pos="100000">
                    <a:schemeClr val="bg1">
                      <a:alpha val="10000"/>
                    </a:schemeClr>
                  </a:gs>
                  <a:gs pos="0">
                    <a:schemeClr val="bg1">
                      <a:alpha val="27000"/>
                    </a:schemeClr>
                  </a:gs>
                </a:gsLst>
                <a:lin ang="9000000" scaled="0"/>
              </a:gradFill>
              <a:ln w="15875" cap="rnd">
                <a:noFill/>
                <a:tailEnd type="none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>
                  <a:solidFill>
                    <a:prstClr val="white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</p:txBody>
          </p:sp>
        </p:grpSp>
        <p:sp>
          <p:nvSpPr>
            <p:cNvPr id="12" name="제목 114"/>
            <p:cNvSpPr txBox="1">
              <a:spLocks/>
            </p:cNvSpPr>
            <p:nvPr/>
          </p:nvSpPr>
          <p:spPr>
            <a:xfrm>
              <a:off x="-32" y="22858"/>
              <a:ext cx="3571900" cy="329275"/>
            </a:xfrm>
            <a:prstGeom prst="rect">
              <a:avLst/>
            </a:prstGeom>
            <a:effectLst>
              <a:outerShdw blurRad="76200" dir="5400000" algn="ctr" rotWithShape="0">
                <a:sysClr val="windowText" lastClr="000000"/>
              </a:outerShdw>
            </a:effectLst>
          </p:spPr>
          <p:txBody>
            <a:bodyPr anchor="ctr" anchorCtr="0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0" latinLnBrk="0" hangingPunct="0">
                <a:defRPr/>
              </a:pPr>
              <a:r>
                <a:rPr lang="en-US" altLang="ko-KR" sz="2400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1. </a:t>
              </a:r>
              <a:r>
                <a:rPr lang="ko-KR" altLang="en-US" sz="2400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회사소개</a:t>
              </a:r>
            </a:p>
          </p:txBody>
        </p:sp>
        <p:sp>
          <p:nvSpPr>
            <p:cNvPr id="29" name="제목 114"/>
            <p:cNvSpPr txBox="1">
              <a:spLocks/>
            </p:cNvSpPr>
            <p:nvPr/>
          </p:nvSpPr>
          <p:spPr>
            <a:xfrm>
              <a:off x="50768" y="456519"/>
              <a:ext cx="5092736" cy="329275"/>
            </a:xfrm>
            <a:prstGeom prst="rect">
              <a:avLst/>
            </a:prstGeom>
            <a:effectLst>
              <a:outerShdw blurRad="76200" dir="5400000" algn="ctr" rotWithShape="0">
                <a:sysClr val="windowText" lastClr="000000"/>
              </a:outerShdw>
            </a:effectLst>
          </p:spPr>
          <p:txBody>
            <a:bodyPr anchor="ctr" anchorCtr="0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0" latinLnBrk="0" hangingPunct="0">
                <a:defRPr/>
              </a:pPr>
              <a:r>
                <a:rPr lang="en-US" altLang="ko-KR" sz="2000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 - </a:t>
              </a:r>
              <a:r>
                <a:rPr lang="ko-KR" altLang="en-US" sz="2000" kern="0" dirty="0" err="1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기업개요</a:t>
              </a:r>
              <a:r>
                <a:rPr lang="ko-KR" altLang="en-US" sz="2000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 현황</a:t>
              </a:r>
            </a:p>
          </p:txBody>
        </p:sp>
      </p:grpSp>
      <p:sp>
        <p:nvSpPr>
          <p:cNvPr id="11" name="직사각형 10"/>
          <p:cNvSpPr/>
          <p:nvPr/>
        </p:nvSpPr>
        <p:spPr>
          <a:xfrm>
            <a:off x="357158" y="1285860"/>
            <a:ext cx="8429684" cy="5286412"/>
          </a:xfrm>
          <a:prstGeom prst="rect">
            <a:avLst/>
          </a:prstGeom>
          <a:noFill/>
          <a:ln w="6350" cap="rnd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>
              <a:solidFill>
                <a:prstClr val="white"/>
              </a:solidFill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1827" y="1444134"/>
            <a:ext cx="7128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600" b="1">
                <a:solidFill>
                  <a:srgbClr val="0070C0"/>
                </a:solidFill>
                <a:latin typeface="맑은 고딕"/>
              </a:rPr>
              <a:t>회사 개요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2D2D2D"/>
                </a:solidFill>
                <a:latin typeface="맑은 고딕"/>
              </a:rPr>
              <a:t>회사명  </a:t>
            </a:r>
            <a:r>
              <a:rPr sz="1200" b="0">
                <a:solidFill>
                  <a:srgbClr val="2D2D2D"/>
                </a:solidFill>
                <a:latin typeface="맑은 고딕"/>
              </a:rPr>
              <a:t>(주)렌트미 (예정) | 예비창업자 | D.N.A - 인공지능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2D2D2D"/>
                </a:solidFill>
                <a:latin typeface="맑은 고딕"/>
              </a:rPr>
              <a:t>대표자  </a:t>
            </a:r>
            <a:r>
              <a:rPr sz="1200" b="0">
                <a:solidFill>
                  <a:srgbClr val="2D2D2D"/>
                </a:solidFill>
                <a:latin typeface="맑은 고딕"/>
              </a:rPr>
              <a:t>김다운 (1988.11.22) | 풀스택 개발 10년 (2016~현재)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2D2D2D"/>
                </a:solidFill>
                <a:latin typeface="맑은 고딕"/>
              </a:rPr>
              <a:t>설립예정  </a:t>
            </a:r>
            <a:r>
              <a:rPr sz="1200" b="0">
                <a:solidFill>
                  <a:srgbClr val="2D2D2D"/>
                </a:solidFill>
                <a:latin typeface="맑은 고딕"/>
              </a:rPr>
              <a:t>2026년 6월 (입주 후 3개월 이내 법인 설립)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2D2D2D"/>
                </a:solidFill>
                <a:latin typeface="맑은 고딕"/>
              </a:rPr>
              <a:t>소재지  </a:t>
            </a:r>
            <a:r>
              <a:rPr sz="1200" b="0">
                <a:solidFill>
                  <a:srgbClr val="2D2D2D"/>
                </a:solidFill>
                <a:latin typeface="맑은 고딕"/>
              </a:rPr>
              <a:t>경기도 하남시 검단산로 239, 창업혁신공간 동부권(하남)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0070C0"/>
                </a:solidFill>
                <a:latin typeface="맑은 고딕"/>
              </a:rPr>
              <a:t>문제 정의 — 임대차 시장의 "신뢰 인프라" 부재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>  1인 가구 804만(36.1%) | 월세 비중 60.2%(역대 최고) | 전세사기 피해 2.5만명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E74C3C"/>
                </a:solidFill>
                <a:latin typeface="맑은 고딕"/>
              </a:rPr>
              <a:t>  세입자: </a:t>
            </a:r>
            <a:r>
              <a:rPr sz="1100" b="0">
                <a:solidFill>
                  <a:srgbClr val="E74C3C"/>
                </a:solidFill>
                <a:latin typeface="맑은 고딕"/>
              </a:rPr>
              <a:t>"좋은 세입자인데 증명할 방법이 없다"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E74C3C"/>
                </a:solidFill>
                <a:latin typeface="맑은 고딕"/>
              </a:rPr>
              <a:t>  집주인: </a:t>
            </a:r>
            <a:r>
              <a:rPr sz="1100" b="0">
                <a:solidFill>
                  <a:srgbClr val="E74C3C"/>
                </a:solidFill>
                <a:latin typeface="맑은 고딕"/>
              </a:rPr>
              <a:t>"월세를 잘 낼지 어떻게 알지?"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>  → 결국 "돈(보증금)"으로만 신뢰를 담보하는 구조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0070C0"/>
                </a:solidFill>
                <a:latin typeface="맑은 고딕"/>
              </a:rPr>
              <a:t>솔루션 — "세입자의 LinkedIn"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2D2D2D"/>
                </a:solidFill>
                <a:latin typeface="맑은 고딕"/>
              </a:rPr>
              <a:t>  렌트미는 세입자의 신뢰를 정량화하여 "자산"으로 만드는 플랫폼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>  재직/소득/신용 API 자동인증 + 집주인 레퍼런스(한국 최초) + AI 자기소개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>  → 신뢰점수(Trust Score) 산출 → 보증금 협상력 확보 + 보증보험 연계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27AE60"/>
                </a:solidFill>
                <a:latin typeface="맑은 고딕"/>
              </a:rPr>
              <a:t>MVP 99% 완성 — 즉시 서비스 런칭 가능 상태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맑은 고딕"/>
              </a:rPr>
              <a:t>  (세입자 온보딩, 신뢰점수, 본인인증 기반 자동 스크래핑, AI 자기소개, 집주인 대시보드, 메시징, 매물관리, 보안, 테스트 전 기능 구현)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65"/>
          <p:cNvGrpSpPr/>
          <p:nvPr/>
        </p:nvGrpSpPr>
        <p:grpSpPr>
          <a:xfrm>
            <a:off x="-32" y="-4786"/>
            <a:ext cx="9144032" cy="1244980"/>
            <a:chOff x="-32" y="-21034"/>
            <a:chExt cx="9144032" cy="1244980"/>
          </a:xfrm>
        </p:grpSpPr>
        <p:sp>
          <p:nvSpPr>
            <p:cNvPr id="3" name="직사각형 2"/>
            <p:cNvSpPr/>
            <p:nvPr/>
          </p:nvSpPr>
          <p:spPr>
            <a:xfrm>
              <a:off x="0" y="423865"/>
              <a:ext cx="9144000" cy="44290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4" name="직각 삼각형 3"/>
            <p:cNvSpPr/>
            <p:nvPr/>
          </p:nvSpPr>
          <p:spPr>
            <a:xfrm rot="5400000" flipV="1">
              <a:off x="211902" y="831038"/>
              <a:ext cx="357188" cy="428628"/>
            </a:xfrm>
            <a:prstGeom prst="rt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grpSp>
          <p:nvGrpSpPr>
            <p:cNvPr id="5" name="그룹 10"/>
            <p:cNvGrpSpPr/>
            <p:nvPr/>
          </p:nvGrpSpPr>
          <p:grpSpPr>
            <a:xfrm>
              <a:off x="0" y="-21034"/>
              <a:ext cx="9143999" cy="449638"/>
              <a:chOff x="4693403" y="1672032"/>
              <a:chExt cx="3921281" cy="354747"/>
            </a:xfrm>
          </p:grpSpPr>
          <p:sp>
            <p:nvSpPr>
              <p:cNvPr id="13" name="AutoShape 55"/>
              <p:cNvSpPr>
                <a:spLocks noChangeArrowheads="1"/>
              </p:cNvSpPr>
              <p:nvPr/>
            </p:nvSpPr>
            <p:spPr bwMode="auto">
              <a:xfrm>
                <a:off x="4693699" y="1672032"/>
                <a:ext cx="3920985" cy="354747"/>
              </a:xfrm>
              <a:prstGeom prst="roundRect">
                <a:avLst>
                  <a:gd name="adj" fmla="val 0"/>
                </a:avLst>
              </a:prstGeom>
              <a:solidFill>
                <a:srgbClr val="0070C0"/>
              </a:solidFill>
              <a:ln w="3175">
                <a:noFill/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>
                  <a:solidFill>
                    <a:prstClr val="black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</p:txBody>
          </p:sp>
          <p:sp>
            <p:nvSpPr>
              <p:cNvPr id="14" name="자유형 13"/>
              <p:cNvSpPr/>
              <p:nvPr/>
            </p:nvSpPr>
            <p:spPr>
              <a:xfrm>
                <a:off x="4693403" y="1672342"/>
                <a:ext cx="245068" cy="346220"/>
              </a:xfrm>
              <a:custGeom>
                <a:avLst/>
                <a:gdLst>
                  <a:gd name="connsiteX0" fmla="*/ 0 w 922421"/>
                  <a:gd name="connsiteY0" fmla="*/ 409074 h 409074"/>
                  <a:gd name="connsiteX1" fmla="*/ 922421 w 922421"/>
                  <a:gd name="connsiteY1" fmla="*/ 0 h 409074"/>
                  <a:gd name="connsiteX2" fmla="*/ 0 w 922421"/>
                  <a:gd name="connsiteY2" fmla="*/ 0 h 409074"/>
                  <a:gd name="connsiteX3" fmla="*/ 0 w 922421"/>
                  <a:gd name="connsiteY3" fmla="*/ 409074 h 409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2421" h="409074">
                    <a:moveTo>
                      <a:pt x="0" y="409074"/>
                    </a:moveTo>
                    <a:lnTo>
                      <a:pt x="922421" y="0"/>
                    </a:lnTo>
                    <a:lnTo>
                      <a:pt x="0" y="0"/>
                    </a:lnTo>
                    <a:lnTo>
                      <a:pt x="0" y="409074"/>
                    </a:lnTo>
                    <a:close/>
                  </a:path>
                </a:pathLst>
              </a:custGeom>
              <a:gradFill>
                <a:gsLst>
                  <a:gs pos="100000">
                    <a:schemeClr val="bg1">
                      <a:alpha val="10000"/>
                    </a:schemeClr>
                  </a:gs>
                  <a:gs pos="0">
                    <a:schemeClr val="bg1">
                      <a:alpha val="27000"/>
                    </a:schemeClr>
                  </a:gs>
                </a:gsLst>
                <a:lin ang="9000000" scaled="0"/>
              </a:gradFill>
              <a:ln w="15875" cap="rnd">
                <a:noFill/>
                <a:tailEnd type="none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>
                  <a:solidFill>
                    <a:prstClr val="white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</p:txBody>
          </p:sp>
        </p:grpSp>
        <p:sp>
          <p:nvSpPr>
            <p:cNvPr id="12" name="제목 114"/>
            <p:cNvSpPr txBox="1">
              <a:spLocks/>
            </p:cNvSpPr>
            <p:nvPr/>
          </p:nvSpPr>
          <p:spPr>
            <a:xfrm>
              <a:off x="-32" y="22858"/>
              <a:ext cx="3571900" cy="329275"/>
            </a:xfrm>
            <a:prstGeom prst="rect">
              <a:avLst/>
            </a:prstGeom>
            <a:effectLst>
              <a:outerShdw blurRad="76200" dir="5400000" algn="ctr" rotWithShape="0">
                <a:sysClr val="windowText" lastClr="000000"/>
              </a:outerShdw>
            </a:effectLst>
          </p:spPr>
          <p:txBody>
            <a:bodyPr anchor="ctr" anchorCtr="0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0" latinLnBrk="0" hangingPunct="0">
                <a:defRPr/>
              </a:pPr>
              <a:r>
                <a:rPr lang="en-US" altLang="ko-KR" sz="2400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1. </a:t>
              </a:r>
              <a:r>
                <a:rPr lang="ko-KR" altLang="en-US" sz="2400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회사소개</a:t>
              </a:r>
            </a:p>
          </p:txBody>
        </p:sp>
        <p:sp>
          <p:nvSpPr>
            <p:cNvPr id="29" name="제목 114"/>
            <p:cNvSpPr txBox="1">
              <a:spLocks/>
            </p:cNvSpPr>
            <p:nvPr/>
          </p:nvSpPr>
          <p:spPr>
            <a:xfrm>
              <a:off x="50768" y="456519"/>
              <a:ext cx="5092736" cy="329275"/>
            </a:xfrm>
            <a:prstGeom prst="rect">
              <a:avLst/>
            </a:prstGeom>
            <a:effectLst>
              <a:outerShdw blurRad="76200" dir="5400000" algn="ctr" rotWithShape="0">
                <a:sysClr val="windowText" lastClr="000000"/>
              </a:outerShdw>
            </a:effectLst>
          </p:spPr>
          <p:txBody>
            <a:bodyPr anchor="ctr" anchorCtr="0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0" latinLnBrk="0" hangingPunct="0">
                <a:defRPr/>
              </a:pPr>
              <a:r>
                <a:rPr lang="en-US" altLang="ko-KR" sz="2000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 - </a:t>
              </a:r>
              <a:r>
                <a:rPr lang="ko-KR" altLang="en-US" sz="2000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대표자 역량 및 </a:t>
              </a:r>
              <a:r>
                <a:rPr lang="ko-KR" altLang="en-US" sz="2000" kern="0" dirty="0" err="1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조직현황</a:t>
              </a:r>
              <a:endParaRPr lang="ko-KR" altLang="en-US" sz="2000" kern="0" dirty="0">
                <a:gradFill>
                  <a:gsLst>
                    <a:gs pos="100000">
                      <a:prstClr val="white"/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0"/>
              </a:endParaRPr>
            </a:p>
          </p:txBody>
        </p:sp>
      </p:grpSp>
      <p:sp>
        <p:nvSpPr>
          <p:cNvPr id="11" name="직사각형 10"/>
          <p:cNvSpPr/>
          <p:nvPr/>
        </p:nvSpPr>
        <p:spPr>
          <a:xfrm>
            <a:off x="357158" y="1285860"/>
            <a:ext cx="8429684" cy="5286412"/>
          </a:xfrm>
          <a:prstGeom prst="rect">
            <a:avLst/>
          </a:prstGeom>
          <a:noFill/>
          <a:ln w="6350" cap="rnd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>
              <a:solidFill>
                <a:prstClr val="white"/>
              </a:solidFill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21827" y="1444134"/>
            <a:ext cx="7128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600" b="1">
                <a:solidFill>
                  <a:srgbClr val="0070C0"/>
                </a:solidFill>
                <a:latin typeface="맑은 고딕"/>
              </a:rPr>
              <a:t>대표자 역량 — 렌트미에 최적화된 10년 실무 경험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2D2D2D"/>
                </a:solidFill>
                <a:latin typeface="맑은 고딕"/>
              </a:rPr>
              <a:t>김다운  |  </a:t>
            </a:r>
            <a:r>
              <a:rPr sz="1200" b="0">
                <a:solidFill>
                  <a:srgbClr val="2D2D2D"/>
                </a:solidFill>
                <a:latin typeface="맑은 고딕"/>
              </a:rPr>
              <a:t>풀스택 개발 10년 | 방송통신대 컴퓨터과학과 재학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0070C0"/>
                </a:solidFill>
                <a:latin typeface="맑은 고딕"/>
              </a:rPr>
              <a:t>경력과 렌트미 적용 연결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2D2D2D"/>
                </a:solidFill>
                <a:latin typeface="맑은 고딕"/>
              </a:rPr>
              <a:t>  헥토데이터(구 쿠콘) 파트장 3년</a:t>
            </a:r>
            <a:r>
              <a:rPr sz="1100" b="0">
                <a:solidFill>
                  <a:srgbClr val="7F8C8D"/>
                </a:solidFill>
                <a:latin typeface="맑은 고딕"/>
              </a:rPr>
              <a:t> (2021~2024)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>    금융 데이터 스크래핑/인증 API 실무 + 팀 관리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7AE60"/>
                </a:solidFill>
                <a:latin typeface="맑은 고딕"/>
              </a:rPr>
              <a:t>    → 렌트미 재직/소득/신용 자동 스크래핑 인증 시스템 직접 설계/구현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2D2D2D"/>
                </a:solidFill>
                <a:latin typeface="맑은 고딕"/>
              </a:rPr>
              <a:t>  IBK 기업은행 파견</a:t>
            </a:r>
            <a:r>
              <a:rPr sz="1100" b="0">
                <a:solidFill>
                  <a:srgbClr val="7F8C8D"/>
                </a:solidFill>
                <a:latin typeface="맑은 고딕"/>
              </a:rPr>
              <a:t> (2020~2021)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>    전자약정 다중인증(MFA) 시스템 구현 (카카오/1원인증)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7AE60"/>
                </a:solidFill>
                <a:latin typeface="맑은 고딕"/>
              </a:rPr>
              <a:t>    → 렌트미 NICE 본인인증 + SMS OTP 설계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2D2D2D"/>
                </a:solidFill>
                <a:latin typeface="맑은 고딕"/>
              </a:rPr>
              <a:t>  에너지마켓플레이스</a:t>
            </a:r>
            <a:r>
              <a:rPr sz="1100" b="0">
                <a:solidFill>
                  <a:srgbClr val="7F8C8D"/>
                </a:solidFill>
                <a:latin typeface="맑은 고딕"/>
              </a:rPr>
              <a:t> (2019~2020)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>    수요-공급 매칭 알고리즘 설계/개발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7AE60"/>
                </a:solidFill>
                <a:latin typeface="맑은 고딕"/>
              </a:rPr>
              <a:t>    → 렌트미 세입자-집주인 매칭 로직 적용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2D2D2D"/>
                </a:solidFill>
                <a:latin typeface="맑은 고딕"/>
              </a:rPr>
              <a:t>  크리에이티브힐</a:t>
            </a:r>
            <a:r>
              <a:rPr sz="1100" b="0">
                <a:solidFill>
                  <a:srgbClr val="7F8C8D"/>
                </a:solidFill>
                <a:latin typeface="맑은 고딕"/>
              </a:rPr>
              <a:t> (2018~2019) </a:t>
            </a:r>
            <a:r>
              <a:rPr sz="1100" b="0">
                <a:solidFill>
                  <a:srgbClr val="2D2D2D"/>
                </a:solidFill>
                <a:latin typeface="맑은 고딕"/>
              </a:rPr>
              <a:t>NFT B2C 플랫폼 기획/개발/운영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2D2D2D"/>
                </a:solidFill>
                <a:latin typeface="맑은 고딕"/>
              </a:rPr>
              <a:t>  지자체 웹서비스</a:t>
            </a:r>
            <a:r>
              <a:rPr sz="1100" b="0">
                <a:solidFill>
                  <a:srgbClr val="7F8C8D"/>
                </a:solidFill>
                <a:latin typeface="맑은 고딕"/>
              </a:rPr>
              <a:t> (2016~2018) </a:t>
            </a:r>
            <a:r>
              <a:rPr sz="1100" b="0">
                <a:solidFill>
                  <a:srgbClr val="2D2D2D"/>
                </a:solidFill>
                <a:latin typeface="맑은 고딕"/>
              </a:rPr>
              <a:t>서귀포시/고양시 등 B2G → 공공기관 납품 기반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E74C3C"/>
                </a:solidFill>
                <a:latin typeface="맑은 고딕"/>
              </a:rPr>
              <a:t>핵심: </a:t>
            </a:r>
            <a:r>
              <a:rPr sz="1200" b="0">
                <a:solidFill>
                  <a:srgbClr val="E74C3C"/>
                </a:solidFill>
                <a:latin typeface="맑은 고딕"/>
              </a:rPr>
              <a:t>기획→설계→개발→배포→운영 1인 수행 가능 | 퇴근/주말 활용 MVP 99% 단독 개발 완료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65"/>
          <p:cNvGrpSpPr/>
          <p:nvPr/>
        </p:nvGrpSpPr>
        <p:grpSpPr>
          <a:xfrm>
            <a:off x="0" y="-4786"/>
            <a:ext cx="9144000" cy="1244980"/>
            <a:chOff x="0" y="-21034"/>
            <a:chExt cx="9144000" cy="1244980"/>
          </a:xfrm>
        </p:grpSpPr>
        <p:sp>
          <p:nvSpPr>
            <p:cNvPr id="3" name="직사각형 2"/>
            <p:cNvSpPr/>
            <p:nvPr/>
          </p:nvSpPr>
          <p:spPr>
            <a:xfrm>
              <a:off x="0" y="423865"/>
              <a:ext cx="9144000" cy="44290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4" name="직각 삼각형 3"/>
            <p:cNvSpPr/>
            <p:nvPr/>
          </p:nvSpPr>
          <p:spPr>
            <a:xfrm rot="5400000" flipV="1">
              <a:off x="211902" y="831038"/>
              <a:ext cx="357188" cy="428628"/>
            </a:xfrm>
            <a:prstGeom prst="rt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grpSp>
          <p:nvGrpSpPr>
            <p:cNvPr id="5" name="그룹 10"/>
            <p:cNvGrpSpPr/>
            <p:nvPr/>
          </p:nvGrpSpPr>
          <p:grpSpPr>
            <a:xfrm>
              <a:off x="0" y="-21034"/>
              <a:ext cx="9143999" cy="449638"/>
              <a:chOff x="4693403" y="1672032"/>
              <a:chExt cx="3921281" cy="354747"/>
            </a:xfrm>
          </p:grpSpPr>
          <p:sp>
            <p:nvSpPr>
              <p:cNvPr id="13" name="AutoShape 55"/>
              <p:cNvSpPr>
                <a:spLocks noChangeArrowheads="1"/>
              </p:cNvSpPr>
              <p:nvPr/>
            </p:nvSpPr>
            <p:spPr bwMode="auto">
              <a:xfrm>
                <a:off x="4693699" y="1672032"/>
                <a:ext cx="3920985" cy="354747"/>
              </a:xfrm>
              <a:prstGeom prst="roundRect">
                <a:avLst>
                  <a:gd name="adj" fmla="val 0"/>
                </a:avLst>
              </a:prstGeom>
              <a:solidFill>
                <a:srgbClr val="0070C0"/>
              </a:solidFill>
              <a:ln w="3175">
                <a:noFill/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>
                  <a:solidFill>
                    <a:prstClr val="black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</p:txBody>
          </p:sp>
          <p:sp>
            <p:nvSpPr>
              <p:cNvPr id="14" name="자유형 13"/>
              <p:cNvSpPr/>
              <p:nvPr/>
            </p:nvSpPr>
            <p:spPr>
              <a:xfrm>
                <a:off x="4693403" y="1672342"/>
                <a:ext cx="245068" cy="346220"/>
              </a:xfrm>
              <a:custGeom>
                <a:avLst/>
                <a:gdLst>
                  <a:gd name="connsiteX0" fmla="*/ 0 w 922421"/>
                  <a:gd name="connsiteY0" fmla="*/ 409074 h 409074"/>
                  <a:gd name="connsiteX1" fmla="*/ 922421 w 922421"/>
                  <a:gd name="connsiteY1" fmla="*/ 0 h 409074"/>
                  <a:gd name="connsiteX2" fmla="*/ 0 w 922421"/>
                  <a:gd name="connsiteY2" fmla="*/ 0 h 409074"/>
                  <a:gd name="connsiteX3" fmla="*/ 0 w 922421"/>
                  <a:gd name="connsiteY3" fmla="*/ 409074 h 409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2421" h="409074">
                    <a:moveTo>
                      <a:pt x="0" y="409074"/>
                    </a:moveTo>
                    <a:lnTo>
                      <a:pt x="922421" y="0"/>
                    </a:lnTo>
                    <a:lnTo>
                      <a:pt x="0" y="0"/>
                    </a:lnTo>
                    <a:lnTo>
                      <a:pt x="0" y="409074"/>
                    </a:lnTo>
                    <a:close/>
                  </a:path>
                </a:pathLst>
              </a:custGeom>
              <a:gradFill>
                <a:gsLst>
                  <a:gs pos="100000">
                    <a:schemeClr val="bg1">
                      <a:alpha val="10000"/>
                    </a:schemeClr>
                  </a:gs>
                  <a:gs pos="0">
                    <a:schemeClr val="bg1">
                      <a:alpha val="27000"/>
                    </a:schemeClr>
                  </a:gs>
                </a:gsLst>
                <a:lin ang="9000000" scaled="0"/>
              </a:gradFill>
              <a:ln w="15875" cap="rnd">
                <a:noFill/>
                <a:tailEnd type="none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>
                  <a:solidFill>
                    <a:prstClr val="white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</p:txBody>
          </p:sp>
        </p:grpSp>
        <p:sp>
          <p:nvSpPr>
            <p:cNvPr id="29" name="제목 114"/>
            <p:cNvSpPr txBox="1">
              <a:spLocks/>
            </p:cNvSpPr>
            <p:nvPr/>
          </p:nvSpPr>
          <p:spPr>
            <a:xfrm>
              <a:off x="50768" y="456519"/>
              <a:ext cx="6164306" cy="329275"/>
            </a:xfrm>
            <a:prstGeom prst="rect">
              <a:avLst/>
            </a:prstGeom>
            <a:effectLst>
              <a:outerShdw blurRad="76200" dir="5400000" algn="ctr" rotWithShape="0">
                <a:sysClr val="windowText" lastClr="000000"/>
              </a:outerShdw>
            </a:effectLst>
          </p:spPr>
          <p:txBody>
            <a:bodyPr anchor="ctr" anchorCtr="0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0" latinLnBrk="0" hangingPunct="0">
                <a:defRPr/>
              </a:pPr>
              <a:r>
                <a:rPr lang="en-US" altLang="ko-KR" sz="2000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 - </a:t>
              </a:r>
              <a:r>
                <a:rPr lang="ko-KR" altLang="en-US" sz="2000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기술현황</a:t>
              </a:r>
            </a:p>
          </p:txBody>
        </p:sp>
      </p:grpSp>
      <p:sp>
        <p:nvSpPr>
          <p:cNvPr id="11" name="직사각형 10"/>
          <p:cNvSpPr/>
          <p:nvPr/>
        </p:nvSpPr>
        <p:spPr>
          <a:xfrm>
            <a:off x="357158" y="1285860"/>
            <a:ext cx="8429684" cy="5286412"/>
          </a:xfrm>
          <a:prstGeom prst="rect">
            <a:avLst/>
          </a:prstGeom>
          <a:noFill/>
          <a:ln w="6350" cap="rnd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>
              <a:solidFill>
                <a:prstClr val="white"/>
              </a:solidFill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15" name="제목 114"/>
          <p:cNvSpPr txBox="1">
            <a:spLocks/>
          </p:cNvSpPr>
          <p:nvPr/>
        </p:nvSpPr>
        <p:spPr>
          <a:xfrm>
            <a:off x="-32" y="39106"/>
            <a:ext cx="3571900" cy="329275"/>
          </a:xfrm>
          <a:prstGeom prst="rect">
            <a:avLst/>
          </a:prstGeom>
          <a:effectLst>
            <a:outerShdw blurRad="76200" dir="5400000" algn="ctr" rotWithShape="0">
              <a:sysClr val="windowText" lastClr="000000"/>
            </a:outerShdw>
          </a:effectLst>
        </p:spPr>
        <p:txBody>
          <a:bodyPr anchor="ctr" anchorCtr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latinLnBrk="0" hangingPunct="0">
              <a:defRPr/>
            </a:pPr>
            <a:r>
              <a:rPr lang="en-US" altLang="ko-KR" sz="2400" kern="0" dirty="0">
                <a:solidFill/>
                <a:latin typeface="HY견고딕" pitchFamily="18" charset="-127"/>
                <a:ea typeface="HY견고딕" pitchFamily="18" charset="-127"/>
                <a:cs typeface="Arial" pitchFamily="34" charset="0"/>
              </a:rPr>
              <a:t>2. </a:t>
            </a:r>
            <a:r>
              <a:rPr lang="ko-KR" altLang="en-US" sz="2400" kern="0" dirty="0" err="1">
                <a:solidFill/>
                <a:latin typeface="HY견고딕" pitchFamily="18" charset="-127"/>
                <a:ea typeface="HY견고딕" pitchFamily="18" charset="-127"/>
                <a:cs typeface="Arial" pitchFamily="34" charset="0"/>
              </a:rPr>
              <a:t>기술성</a:t>
            </a:r>
            <a:r>
              <a:rPr lang="en-US" altLang="ko-KR" sz="2400" kern="0" dirty="0">
                <a:solidFill/>
                <a:latin typeface="HY견고딕" pitchFamily="18" charset="-127"/>
                <a:ea typeface="HY견고딕" pitchFamily="18" charset="-127"/>
                <a:cs typeface="Arial" pitchFamily="34" charset="0"/>
              </a:rPr>
              <a:t> </a:t>
            </a:r>
            <a:endParaRPr lang="ko-KR" altLang="en-US" sz="2400" kern="0" dirty="0">
              <a:gradFill>
                <a:gsLst>
                  <a:gs pos="100000">
                    <a:prstClr val="white"/>
                  </a:gs>
                  <a:gs pos="100000">
                    <a:srgbClr val="0070C0"/>
                  </a:gs>
                </a:gsLst>
                <a:lin ang="5400000" scaled="0"/>
              </a:gradFill>
              <a:latin typeface="HY견고딕" pitchFamily="18" charset="-127"/>
              <a:ea typeface="HY견고딕" pitchFamily="18" charset="-127"/>
              <a:cs typeface="Arial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1827" y="1444134"/>
            <a:ext cx="7128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0070C0"/>
                </a:solidFill>
                <a:latin typeface="맑은 고딕"/>
              </a:rPr>
              <a:t>3대 핵심 기술</a:t>
            </a:r>
            <a:endParaRPr lang="ko-KR" altLang="en-US" dirty="0">
              <a:solidFill>
                <a:srgbClr val="FF0000"/>
              </a:solidFill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2D2D2D"/>
                </a:solidFill>
                <a:latin typeface="맑은 고딕"/>
              </a:rPr>
              <a:t>1. 본인인증 기반 자동 스크래핑 인증</a:t>
            </a:r>
            <a:r>
              <a:rPr sz="1100" b="0">
                <a:solidFill>
                  <a:srgbClr val="2D2D2D"/>
                </a:solidFill>
                <a:latin typeface="맑은 고딕"/>
              </a:rPr>
              <a:t> — 서류 없이 원클릭, 위변조 불가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>   사용자 본인인증 후 자체 스크래핑: 국민연금(재직) + 건강보험료(소득) + 신용점수 실시간 조회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>   NICE 본인인증(CI/DI) + SMS OTP(6자리) | RSA 암호화 민감정보 보호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2D2D2D"/>
                </a:solidFill>
                <a:latin typeface="맑은 고딕"/>
              </a:rPr>
              <a:t>2. 신뢰점수(Trust Score) 알고리즘</a:t>
            </a:r>
            <a:r>
              <a:rPr sz="1100" b="0">
                <a:solidFill>
                  <a:srgbClr val="2D2D2D"/>
                </a:solidFill>
                <a:latin typeface="맑은 고딕"/>
              </a:rPr>
              <a:t> — 0~120점 다차원 정량 평가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>   프로필(20) + 재직(25) + 소득(25) + 신용(10~20) + 집주인 레퍼런스(+30/-20)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>   등급: Excellent(80+) / Good(50~79) / Fair(20~49) / Low(~19)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맑은 고딕"/>
              </a:rPr>
              <a:t>   ※ 집주인 레퍼런스(한국 최초): SMS 토큰 기반 설문(월세납부/시설관리/이웃관계/퇴거상태)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2D2D2D"/>
                </a:solidFill>
                <a:latin typeface="맑은 고딕"/>
              </a:rPr>
              <a:t>3. AI 자기소개 생성</a:t>
            </a:r>
            <a:r>
              <a:rPr sz="1100" b="0">
                <a:solidFill>
                  <a:srgbClr val="2D2D2D"/>
                </a:solidFill>
                <a:latin typeface="맑은 고딕"/>
              </a:rPr>
              <a:t> — OpenAI GPT-4o-mini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>   프로필 데이터(라이프스타일/거주습관/가족구성) 분석 → 집주인 관점 최적화 소개 자동 생성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0070C0"/>
                </a:solidFill>
                <a:latin typeface="맑은 고딕"/>
              </a:rPr>
              <a:t>기술 스택 (전체 직접 구현)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>  Frontend: Next.js 14, React 18, TypeScript, Tailwind CSS, shadcn/ui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>  Backend: Next.js App Router, PostgreSQL, JWT(HS256), bcryptjs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>  인프라: Vercel + AWS S3 + Cloudflare R2 + Sentry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>  보안: Rate Limiting + CSRF + XSS 방지 + AES-256 + RLS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>  테스트: Vitest(단위) + Playwright(E2E)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E74C3C"/>
                </a:solidFill>
                <a:latin typeface="맑은 고딕"/>
              </a:rPr>
              <a:t>차별점: </a:t>
            </a:r>
            <a:r>
              <a:rPr sz="1100" b="0">
                <a:solidFill>
                  <a:srgbClr val="E74C3C"/>
                </a:solidFill>
                <a:latin typeface="맑은 고딕"/>
              </a:rPr>
              <a:t>해외(Naborly/OpenRent)에 유사 서비스 존재하나 한국 시장 특성(전세/월세) 반영 서비스는 전무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65"/>
          <p:cNvGrpSpPr/>
          <p:nvPr/>
        </p:nvGrpSpPr>
        <p:grpSpPr>
          <a:xfrm>
            <a:off x="0" y="-4786"/>
            <a:ext cx="9144000" cy="1244980"/>
            <a:chOff x="0" y="-21034"/>
            <a:chExt cx="9144000" cy="1244980"/>
          </a:xfrm>
        </p:grpSpPr>
        <p:sp>
          <p:nvSpPr>
            <p:cNvPr id="3" name="직사각형 2"/>
            <p:cNvSpPr/>
            <p:nvPr/>
          </p:nvSpPr>
          <p:spPr>
            <a:xfrm>
              <a:off x="0" y="423865"/>
              <a:ext cx="9144000" cy="44290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4" name="직각 삼각형 3"/>
            <p:cNvSpPr/>
            <p:nvPr/>
          </p:nvSpPr>
          <p:spPr>
            <a:xfrm rot="5400000" flipV="1">
              <a:off x="211902" y="831038"/>
              <a:ext cx="357188" cy="428628"/>
            </a:xfrm>
            <a:prstGeom prst="rt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grpSp>
          <p:nvGrpSpPr>
            <p:cNvPr id="5" name="그룹 10"/>
            <p:cNvGrpSpPr/>
            <p:nvPr/>
          </p:nvGrpSpPr>
          <p:grpSpPr>
            <a:xfrm>
              <a:off x="0" y="-21034"/>
              <a:ext cx="9143999" cy="449638"/>
              <a:chOff x="4693403" y="1672032"/>
              <a:chExt cx="3921281" cy="354747"/>
            </a:xfrm>
          </p:grpSpPr>
          <p:sp>
            <p:nvSpPr>
              <p:cNvPr id="13" name="AutoShape 55"/>
              <p:cNvSpPr>
                <a:spLocks noChangeArrowheads="1"/>
              </p:cNvSpPr>
              <p:nvPr/>
            </p:nvSpPr>
            <p:spPr bwMode="auto">
              <a:xfrm>
                <a:off x="4693699" y="1672032"/>
                <a:ext cx="3920985" cy="354747"/>
              </a:xfrm>
              <a:prstGeom prst="roundRect">
                <a:avLst>
                  <a:gd name="adj" fmla="val 0"/>
                </a:avLst>
              </a:prstGeom>
              <a:solidFill>
                <a:srgbClr val="0070C0"/>
              </a:solidFill>
              <a:ln w="3175">
                <a:noFill/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>
                  <a:solidFill>
                    <a:prstClr val="black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</p:txBody>
          </p:sp>
          <p:sp>
            <p:nvSpPr>
              <p:cNvPr id="14" name="자유형 13"/>
              <p:cNvSpPr/>
              <p:nvPr/>
            </p:nvSpPr>
            <p:spPr>
              <a:xfrm>
                <a:off x="4693403" y="1672342"/>
                <a:ext cx="245068" cy="346220"/>
              </a:xfrm>
              <a:custGeom>
                <a:avLst/>
                <a:gdLst>
                  <a:gd name="connsiteX0" fmla="*/ 0 w 922421"/>
                  <a:gd name="connsiteY0" fmla="*/ 409074 h 409074"/>
                  <a:gd name="connsiteX1" fmla="*/ 922421 w 922421"/>
                  <a:gd name="connsiteY1" fmla="*/ 0 h 409074"/>
                  <a:gd name="connsiteX2" fmla="*/ 0 w 922421"/>
                  <a:gd name="connsiteY2" fmla="*/ 0 h 409074"/>
                  <a:gd name="connsiteX3" fmla="*/ 0 w 922421"/>
                  <a:gd name="connsiteY3" fmla="*/ 409074 h 409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2421" h="409074">
                    <a:moveTo>
                      <a:pt x="0" y="409074"/>
                    </a:moveTo>
                    <a:lnTo>
                      <a:pt x="922421" y="0"/>
                    </a:lnTo>
                    <a:lnTo>
                      <a:pt x="0" y="0"/>
                    </a:lnTo>
                    <a:lnTo>
                      <a:pt x="0" y="409074"/>
                    </a:lnTo>
                    <a:close/>
                  </a:path>
                </a:pathLst>
              </a:custGeom>
              <a:gradFill>
                <a:gsLst>
                  <a:gs pos="100000">
                    <a:schemeClr val="bg1">
                      <a:alpha val="10000"/>
                    </a:schemeClr>
                  </a:gs>
                  <a:gs pos="0">
                    <a:schemeClr val="bg1">
                      <a:alpha val="27000"/>
                    </a:schemeClr>
                  </a:gs>
                </a:gsLst>
                <a:lin ang="9000000" scaled="0"/>
              </a:gradFill>
              <a:ln w="15875" cap="rnd">
                <a:noFill/>
                <a:tailEnd type="none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>
                  <a:solidFill>
                    <a:prstClr val="white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</p:txBody>
          </p:sp>
        </p:grpSp>
        <p:sp>
          <p:nvSpPr>
            <p:cNvPr id="29" name="제목 114"/>
            <p:cNvSpPr txBox="1">
              <a:spLocks/>
            </p:cNvSpPr>
            <p:nvPr/>
          </p:nvSpPr>
          <p:spPr>
            <a:xfrm>
              <a:off x="50768" y="456519"/>
              <a:ext cx="6164306" cy="329275"/>
            </a:xfrm>
            <a:prstGeom prst="rect">
              <a:avLst/>
            </a:prstGeom>
            <a:effectLst>
              <a:outerShdw blurRad="76200" dir="5400000" algn="ctr" rotWithShape="0">
                <a:sysClr val="windowText" lastClr="000000"/>
              </a:outerShdw>
            </a:effectLst>
          </p:spPr>
          <p:txBody>
            <a:bodyPr anchor="ctr" anchorCtr="0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0" latinLnBrk="0" hangingPunct="0">
                <a:defRPr/>
              </a:pPr>
              <a:r>
                <a:rPr lang="en-US" altLang="ko-KR" sz="2000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 - </a:t>
              </a:r>
              <a:r>
                <a:rPr lang="ko-KR" altLang="en-US" sz="2000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시장성 및 마케팅 계획</a:t>
              </a:r>
            </a:p>
          </p:txBody>
        </p:sp>
      </p:grpSp>
      <p:sp>
        <p:nvSpPr>
          <p:cNvPr id="11" name="직사각형 10"/>
          <p:cNvSpPr/>
          <p:nvPr/>
        </p:nvSpPr>
        <p:spPr>
          <a:xfrm>
            <a:off x="357158" y="1285860"/>
            <a:ext cx="8429684" cy="5286412"/>
          </a:xfrm>
          <a:prstGeom prst="rect">
            <a:avLst/>
          </a:prstGeom>
          <a:noFill/>
          <a:ln w="6350" cap="rnd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>
              <a:solidFill>
                <a:prstClr val="white"/>
              </a:solidFill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15" name="제목 114"/>
          <p:cNvSpPr txBox="1">
            <a:spLocks/>
          </p:cNvSpPr>
          <p:nvPr/>
        </p:nvSpPr>
        <p:spPr>
          <a:xfrm>
            <a:off x="-32" y="39106"/>
            <a:ext cx="3571900" cy="329275"/>
          </a:xfrm>
          <a:prstGeom prst="rect">
            <a:avLst/>
          </a:prstGeom>
          <a:effectLst>
            <a:outerShdw blurRad="76200" dir="5400000" algn="ctr" rotWithShape="0">
              <a:sysClr val="windowText" lastClr="000000"/>
            </a:outerShdw>
          </a:effectLst>
        </p:spPr>
        <p:txBody>
          <a:bodyPr anchor="ctr" anchorCtr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latinLnBrk="0" hangingPunct="0">
              <a:defRPr/>
            </a:pPr>
            <a:r>
              <a:rPr lang="en-US" altLang="ko-KR" sz="2400" kern="0" dirty="0">
                <a:solidFill/>
                <a:latin typeface="HY견고딕" pitchFamily="18" charset="-127"/>
                <a:ea typeface="HY견고딕" pitchFamily="18" charset="-127"/>
                <a:cs typeface="Arial" pitchFamily="34" charset="0"/>
              </a:rPr>
              <a:t>3. </a:t>
            </a:r>
            <a:r>
              <a:rPr lang="ko-KR" altLang="en-US" sz="2400" kern="0" dirty="0">
                <a:solidFill/>
                <a:latin typeface="HY견고딕" pitchFamily="18" charset="-127"/>
                <a:ea typeface="HY견고딕" pitchFamily="18" charset="-127"/>
                <a:cs typeface="Arial" pitchFamily="34" charset="0"/>
              </a:rPr>
              <a:t>사업성</a:t>
            </a:r>
            <a:r>
              <a:rPr lang="en-US" altLang="ko-KR" sz="2400" kern="0" dirty="0">
                <a:solidFill/>
                <a:latin typeface="HY견고딕" pitchFamily="18" charset="-127"/>
                <a:ea typeface="HY견고딕" pitchFamily="18" charset="-127"/>
                <a:cs typeface="Arial" pitchFamily="34" charset="0"/>
              </a:rPr>
              <a:t> </a:t>
            </a:r>
            <a:endParaRPr lang="ko-KR" altLang="en-US" sz="2400" kern="0" dirty="0">
              <a:gradFill>
                <a:gsLst>
                  <a:gs pos="100000">
                    <a:prstClr val="white"/>
                  </a:gs>
                  <a:gs pos="100000">
                    <a:srgbClr val="0070C0"/>
                  </a:gs>
                </a:gsLst>
                <a:lin ang="5400000" scaled="0"/>
              </a:gradFill>
              <a:latin typeface="HY견고딕" pitchFamily="18" charset="-127"/>
              <a:ea typeface="HY견고딕" pitchFamily="18" charset="-127"/>
              <a:cs typeface="Arial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1826" y="1444134"/>
            <a:ext cx="77505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0070C0"/>
                </a:solidFill>
                <a:latin typeface="맑은 고딕"/>
              </a:rPr>
              <a:t>시장 규모</a:t>
            </a:r>
            <a:endParaRPr lang="en-US" altLang="ko-KR" dirty="0">
              <a:solidFill>
                <a:srgbClr val="FF0000"/>
              </a:solidFill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>  TAM: 국내 전월세 시장 540조원, 연간 임대차 250만 건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>  SAM: 1인 가구 월세 시장 6,000억원 (1인 가구 804만, 월세 120만건/년)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>  SOM: 수도권 1인 월세 5% 점유 = 30억원 (3년 목표)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7F8C8D"/>
                </a:solidFill>
                <a:latin typeface="맑은 고딕"/>
              </a:rPr>
              <a:t>  글로벌 프롭테크: $182억(2024) → $865억(2034), CAGR 16.9%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0070C0"/>
                </a:solidFill>
                <a:latin typeface="맑은 고딕"/>
              </a:rPr>
              <a:t>경쟁사 비교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>  직방/다방: 매물 중심 → 세입자 프로필 없음 | 피터팬: 직거래 → 인증 없음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>  안심전세: 건물 위험도만 → 세입자 관점 없음 | 네이버부동산: 시세 정보만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27AE60"/>
                </a:solidFill>
                <a:latin typeface="맑은 고딕"/>
              </a:rPr>
              <a:t>  → 세입자 "신뢰 프로필" 분야 경쟁자 부재, 선점 기회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0070C0"/>
                </a:solidFill>
                <a:latin typeface="맑은 고딕"/>
              </a:rPr>
              <a:t>수익 모델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>  B2C 프리미엄 구독: W9,900/월 (무제한 AI 자기소개, 레퍼런스, 우선 노출)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>  집주인 프로필 열람: W3,900/건 | 집주인 구독: W29,900/월 (무제한 열람+매칭)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>  중장기: 보증보험 수수료 3~5% (신뢰점수 기반 보증금 50% 절감 연계)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0070C0"/>
                </a:solidFill>
                <a:latin typeface="맑은 고딕"/>
              </a:rPr>
              <a:t>Unit Economics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>  세입자 CAC W5,000 / LTV W59,400 = LTV:CAC </a:t>
            </a:r>
            <a:r>
              <a:rPr sz="1100" b="1">
                <a:solidFill>
                  <a:srgbClr val="27AE60"/>
                </a:solidFill>
                <a:latin typeface="맑은 고딕"/>
              </a:rPr>
              <a:t>12:1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>  집주인 CAC W20,000 / LTV W179,400 = LTV:CAC </a:t>
            </a:r>
            <a:r>
              <a:rPr sz="1100" b="1">
                <a:solidFill>
                  <a:srgbClr val="27AE60"/>
                </a:solidFill>
                <a:latin typeface="맑은 고딕"/>
              </a:rPr>
              <a:t>9:1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E67E22"/>
                </a:solidFill>
                <a:latin typeface="맑은 고딕"/>
              </a:rPr>
              <a:t>  인프라 BEP: 유료 89명 | 사업 전체 BEP: 유료 약 500명 (2027 하반기)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0070C0"/>
                </a:solidFill>
                <a:latin typeface="맑은 고딕"/>
              </a:rPr>
              <a:t>마케팅: </a:t>
            </a:r>
            <a:r>
              <a:rPr sz="1200" b="0">
                <a:solidFill>
                  <a:srgbClr val="2D2D2D"/>
                </a:solidFill>
                <a:latin typeface="맑은 고딕"/>
              </a:rPr>
              <a:t>바이럴 루프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>  세입자 가입→프로필 완성→링크 공유→집주인 유입→세입자 확대 선순환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>  온라인: 부동산 커뮤니티(40%) + 블로그SEO/유튜브(30%) + SNS(20%)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>  B2B: 셰어하우스(우주/맹그로브) B2B 제휴 → 대학가 → 동부권 중개업소 확대</a:t>
            </a:r>
          </a:p>
        </p:txBody>
      </p:sp>
    </p:spTree>
    <p:extLst>
      <p:ext uri="{BB962C8B-B14F-4D97-AF65-F5344CB8AC3E}">
        <p14:creationId xmlns:p14="http://schemas.microsoft.com/office/powerpoint/2010/main" val="2391379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65"/>
          <p:cNvGrpSpPr/>
          <p:nvPr/>
        </p:nvGrpSpPr>
        <p:grpSpPr>
          <a:xfrm>
            <a:off x="-32" y="-4786"/>
            <a:ext cx="9144032" cy="1244980"/>
            <a:chOff x="-32" y="-21034"/>
            <a:chExt cx="9144032" cy="1244980"/>
          </a:xfrm>
        </p:grpSpPr>
        <p:sp>
          <p:nvSpPr>
            <p:cNvPr id="3" name="직사각형 2"/>
            <p:cNvSpPr/>
            <p:nvPr/>
          </p:nvSpPr>
          <p:spPr>
            <a:xfrm>
              <a:off x="0" y="423865"/>
              <a:ext cx="9144000" cy="44290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휴먼명조" pitchFamily="2" charset="-127"/>
                <a:ea typeface="휴먼명조" pitchFamily="2" charset="-127"/>
              </a:endParaRPr>
            </a:p>
          </p:txBody>
        </p:sp>
        <p:sp>
          <p:nvSpPr>
            <p:cNvPr id="4" name="직각 삼각형 3"/>
            <p:cNvSpPr/>
            <p:nvPr/>
          </p:nvSpPr>
          <p:spPr>
            <a:xfrm rot="5400000" flipV="1">
              <a:off x="211902" y="831038"/>
              <a:ext cx="357188" cy="428628"/>
            </a:xfrm>
            <a:prstGeom prst="rt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휴먼명조" pitchFamily="2" charset="-127"/>
                <a:ea typeface="휴먼명조" pitchFamily="2" charset="-127"/>
              </a:endParaRPr>
            </a:p>
          </p:txBody>
        </p:sp>
        <p:grpSp>
          <p:nvGrpSpPr>
            <p:cNvPr id="5" name="그룹 10"/>
            <p:cNvGrpSpPr/>
            <p:nvPr/>
          </p:nvGrpSpPr>
          <p:grpSpPr>
            <a:xfrm>
              <a:off x="0" y="-21034"/>
              <a:ext cx="9143999" cy="449638"/>
              <a:chOff x="4693403" y="1672032"/>
              <a:chExt cx="3921281" cy="354747"/>
            </a:xfrm>
          </p:grpSpPr>
          <p:sp>
            <p:nvSpPr>
              <p:cNvPr id="13" name="AutoShape 55"/>
              <p:cNvSpPr>
                <a:spLocks noChangeArrowheads="1"/>
              </p:cNvSpPr>
              <p:nvPr/>
            </p:nvSpPr>
            <p:spPr bwMode="auto">
              <a:xfrm>
                <a:off x="4693699" y="1672032"/>
                <a:ext cx="3920985" cy="354747"/>
              </a:xfrm>
              <a:prstGeom prst="roundRect">
                <a:avLst>
                  <a:gd name="adj" fmla="val 0"/>
                </a:avLst>
              </a:prstGeom>
              <a:solidFill>
                <a:srgbClr val="0070C0"/>
              </a:solidFill>
              <a:ln w="3175">
                <a:noFill/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>
                  <a:solidFill>
                    <a:prstClr val="black"/>
                  </a:solidFill>
                  <a:latin typeface="HY견고딕" pitchFamily="18" charset="-127"/>
                  <a:ea typeface="HY견고딕" pitchFamily="18" charset="-127"/>
                </a:endParaRPr>
              </a:p>
            </p:txBody>
          </p:sp>
          <p:sp>
            <p:nvSpPr>
              <p:cNvPr id="14" name="자유형 13"/>
              <p:cNvSpPr/>
              <p:nvPr/>
            </p:nvSpPr>
            <p:spPr>
              <a:xfrm>
                <a:off x="4693403" y="1672342"/>
                <a:ext cx="245068" cy="346220"/>
              </a:xfrm>
              <a:custGeom>
                <a:avLst/>
                <a:gdLst>
                  <a:gd name="connsiteX0" fmla="*/ 0 w 922421"/>
                  <a:gd name="connsiteY0" fmla="*/ 409074 h 409074"/>
                  <a:gd name="connsiteX1" fmla="*/ 922421 w 922421"/>
                  <a:gd name="connsiteY1" fmla="*/ 0 h 409074"/>
                  <a:gd name="connsiteX2" fmla="*/ 0 w 922421"/>
                  <a:gd name="connsiteY2" fmla="*/ 0 h 409074"/>
                  <a:gd name="connsiteX3" fmla="*/ 0 w 922421"/>
                  <a:gd name="connsiteY3" fmla="*/ 409074 h 409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2421" h="409074">
                    <a:moveTo>
                      <a:pt x="0" y="409074"/>
                    </a:moveTo>
                    <a:lnTo>
                      <a:pt x="922421" y="0"/>
                    </a:lnTo>
                    <a:lnTo>
                      <a:pt x="0" y="0"/>
                    </a:lnTo>
                    <a:lnTo>
                      <a:pt x="0" y="409074"/>
                    </a:lnTo>
                    <a:close/>
                  </a:path>
                </a:pathLst>
              </a:custGeom>
              <a:gradFill>
                <a:gsLst>
                  <a:gs pos="100000">
                    <a:schemeClr val="bg1">
                      <a:alpha val="10000"/>
                    </a:schemeClr>
                  </a:gs>
                  <a:gs pos="0">
                    <a:schemeClr val="bg1">
                      <a:alpha val="27000"/>
                    </a:schemeClr>
                  </a:gs>
                </a:gsLst>
                <a:lin ang="9000000" scaled="0"/>
              </a:gradFill>
              <a:ln w="15875" cap="rnd">
                <a:noFill/>
                <a:tailEnd type="none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>
                  <a:solidFill>
                    <a:prstClr val="white"/>
                  </a:solidFill>
                  <a:latin typeface="HY견고딕" pitchFamily="18" charset="-127"/>
                  <a:ea typeface="HY견고딕" pitchFamily="18" charset="-127"/>
                </a:endParaRPr>
              </a:p>
            </p:txBody>
          </p:sp>
        </p:grpSp>
        <p:sp>
          <p:nvSpPr>
            <p:cNvPr id="12" name="제목 114"/>
            <p:cNvSpPr txBox="1">
              <a:spLocks/>
            </p:cNvSpPr>
            <p:nvPr/>
          </p:nvSpPr>
          <p:spPr>
            <a:xfrm>
              <a:off x="-32" y="22858"/>
              <a:ext cx="3851952" cy="329275"/>
            </a:xfrm>
            <a:prstGeom prst="rect">
              <a:avLst/>
            </a:prstGeom>
            <a:effectLst>
              <a:outerShdw blurRad="76200" dir="5400000" algn="ctr" rotWithShape="0">
                <a:sysClr val="windowText" lastClr="000000"/>
              </a:outerShdw>
            </a:effectLst>
          </p:spPr>
          <p:txBody>
            <a:bodyPr anchor="ctr" anchorCtr="0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0" latinLnBrk="0" hangingPunct="0">
                <a:defRPr/>
              </a:pPr>
              <a:r>
                <a:rPr lang="en-US" altLang="ko-KR" sz="2400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견고딕" pitchFamily="18" charset="-127"/>
                  <a:ea typeface="HY견고딕" pitchFamily="18" charset="-127"/>
                  <a:cs typeface="Arial" pitchFamily="34" charset="0"/>
                </a:rPr>
                <a:t>4. </a:t>
              </a:r>
              <a:r>
                <a:rPr lang="ko-KR" altLang="en-US" sz="2400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견고딕" pitchFamily="18" charset="-127"/>
                  <a:ea typeface="HY견고딕" pitchFamily="18" charset="-127"/>
                  <a:cs typeface="Arial" pitchFamily="34" charset="0"/>
                </a:rPr>
                <a:t>성장성</a:t>
              </a:r>
            </a:p>
          </p:txBody>
        </p:sp>
        <p:sp>
          <p:nvSpPr>
            <p:cNvPr id="29" name="제목 114"/>
            <p:cNvSpPr txBox="1">
              <a:spLocks/>
            </p:cNvSpPr>
            <p:nvPr/>
          </p:nvSpPr>
          <p:spPr>
            <a:xfrm>
              <a:off x="50768" y="456519"/>
              <a:ext cx="5092736" cy="329275"/>
            </a:xfrm>
            <a:prstGeom prst="rect">
              <a:avLst/>
            </a:prstGeom>
            <a:effectLst>
              <a:outerShdw blurRad="76200" dir="5400000" algn="ctr" rotWithShape="0">
                <a:sysClr val="windowText" lastClr="000000"/>
              </a:outerShdw>
            </a:effectLst>
          </p:spPr>
          <p:txBody>
            <a:bodyPr anchor="ctr" anchorCtr="0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0" latinLnBrk="0" hangingPunct="0">
                <a:defRPr/>
              </a:pPr>
              <a:r>
                <a:rPr lang="en-US" altLang="ko-KR" sz="2000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견고딕" pitchFamily="18" charset="-127"/>
                  <a:ea typeface="HY견고딕" pitchFamily="18" charset="-127"/>
                  <a:cs typeface="Arial" pitchFamily="34" charset="0"/>
                </a:rPr>
                <a:t> </a:t>
              </a:r>
              <a:r>
                <a:rPr lang="en-US" altLang="ko-KR" sz="2000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- </a:t>
              </a:r>
              <a:r>
                <a:rPr lang="ko-KR" altLang="en-US" sz="2000" kern="0" dirty="0" err="1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재무현황</a:t>
              </a:r>
              <a:r>
                <a:rPr lang="ko-KR" altLang="en-US" sz="2000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 및 매출현황</a:t>
              </a:r>
            </a:p>
          </p:txBody>
        </p:sp>
      </p:grpSp>
      <p:sp>
        <p:nvSpPr>
          <p:cNvPr id="11" name="직사각형 10"/>
          <p:cNvSpPr/>
          <p:nvPr/>
        </p:nvSpPr>
        <p:spPr>
          <a:xfrm>
            <a:off x="357158" y="1285860"/>
            <a:ext cx="8429684" cy="5286412"/>
          </a:xfrm>
          <a:prstGeom prst="rect">
            <a:avLst/>
          </a:prstGeom>
          <a:noFill/>
          <a:ln w="6350" cap="rnd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>
              <a:solidFill>
                <a:prstClr val="white"/>
              </a:solidFill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1826" y="1444134"/>
            <a:ext cx="8365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0070C0"/>
                </a:solidFill>
                <a:latin typeface="맑은 고딕"/>
              </a:rPr>
              <a:t>단계별 성장 로드맵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2D2D2D"/>
                </a:solidFill>
                <a:latin typeface="맑은 고딕"/>
              </a:rPr>
              <a:t>Phase 1 | 2026 하반기 — MVP 출시 + PMF 검증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>  정식 런칭(7월) | 셰어하우스 B2B 제휴 | MAU 3,000명 | 유료전환 3%+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>  B2C 프리미엄 구독 출시 | 매출 500만원 | 고용 1명(대표)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2D2D2D"/>
                </a:solidFill>
                <a:latin typeface="맑은 고딕"/>
              </a:rPr>
              <a:t>Phase 2 | 2027년 — B2B 확장 + 투자유치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>  B2B SaaS 출시(중개업소 100곳 제휴) | MAU 20,000명 | 유료전환 8%+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>  Seed 투자 2~3억 (VC/AC) | </a:t>
            </a:r>
            <a:r>
              <a:rPr sz="1100" b="1">
                <a:solidFill>
                  <a:srgbClr val="2D2D2D"/>
                </a:solidFill>
                <a:latin typeface="맑은 고딕"/>
              </a:rPr>
              <a:t>매출 1.5억원 | 고용 3명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>  팀 확장: 프론트엔드 개발자 1명 + 마케터 1명 채용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2D2D2D"/>
                </a:solidFill>
                <a:latin typeface="맑은 고딕"/>
              </a:rPr>
              <a:t>Phase 3 | 2028년~ — 플랫폼 확장 + BEP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>  공공기관 연계(LH/SH 세입자 스크리닝) | 모바일 앱(React Native) 출시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>  양방향 신뢰 플랫폼(집주인 인증 도입) | 보증보험사 제휴 본격화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>  Series A 10억 | </a:t>
            </a:r>
            <a:r>
              <a:rPr sz="1100" b="1">
                <a:solidFill>
                  <a:srgbClr val="2D2D2D"/>
                </a:solidFill>
                <a:latin typeface="맑은 고딕"/>
              </a:rPr>
              <a:t>매출 8억원 (BEP 달성) | 고용 6명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0070C0"/>
                </a:solidFill>
                <a:latin typeface="맑은 고딕"/>
              </a:rPr>
              <a:t>자금조달 계획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>  예비창업패키지(최대 1억원) 신청 중 | G스타 오디션 경기창업공모 신청 중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>  1인 개발/운영 + 무상 입주 → 월 고정비 약 30만원(서버/API)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>  정부지원금 → 초기 사업화 자금(마케팅/API/디자인) | 매출 발생 후 투자유치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0070C0"/>
                </a:solidFill>
                <a:latin typeface="맑은 고딕"/>
              </a:rPr>
              <a:t>KPI 목표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>  M3: 가입 1,000 / M6: MAU 3,000 + 유료 90명 / M12: MAU 10,000 + B2B 50곳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2D2D2D"/>
                </a:solidFill>
                <a:latin typeface="맑은 고딕"/>
              </a:rPr>
              <a:t>  M24: MAU 30,000 + 유료전환 8% + B2B 200곳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65"/>
          <p:cNvGrpSpPr/>
          <p:nvPr/>
        </p:nvGrpSpPr>
        <p:grpSpPr>
          <a:xfrm>
            <a:off x="0" y="-4786"/>
            <a:ext cx="9144000" cy="1244980"/>
            <a:chOff x="0" y="-21034"/>
            <a:chExt cx="9144000" cy="1244980"/>
          </a:xfrm>
        </p:grpSpPr>
        <p:sp>
          <p:nvSpPr>
            <p:cNvPr id="3" name="직사각형 2"/>
            <p:cNvSpPr/>
            <p:nvPr/>
          </p:nvSpPr>
          <p:spPr>
            <a:xfrm>
              <a:off x="0" y="423865"/>
              <a:ext cx="9144000" cy="44290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eaLnBrk="0" latinLnBrk="0" hangingPunct="0">
                <a:defRPr/>
              </a:pPr>
              <a:r>
                <a:rPr lang="en-US" altLang="ko-KR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 - </a:t>
              </a:r>
              <a:r>
                <a:rPr lang="ko-KR" altLang="en-US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특허 </a:t>
              </a:r>
              <a:r>
                <a:rPr lang="en-US" altLang="ko-KR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· </a:t>
              </a:r>
              <a:r>
                <a:rPr lang="ko-KR" altLang="en-US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인증</a:t>
              </a:r>
              <a:r>
                <a:rPr lang="en-US" altLang="ko-KR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 · </a:t>
              </a:r>
              <a:r>
                <a:rPr lang="ko-KR" altLang="en-US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수상내역 현황</a:t>
              </a:r>
            </a:p>
          </p:txBody>
        </p:sp>
        <p:sp>
          <p:nvSpPr>
            <p:cNvPr id="4" name="직각 삼각형 3"/>
            <p:cNvSpPr/>
            <p:nvPr/>
          </p:nvSpPr>
          <p:spPr>
            <a:xfrm rot="5400000" flipV="1">
              <a:off x="211902" y="831038"/>
              <a:ext cx="357188" cy="428628"/>
            </a:xfrm>
            <a:prstGeom prst="rt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grpSp>
          <p:nvGrpSpPr>
            <p:cNvPr id="5" name="그룹 10"/>
            <p:cNvGrpSpPr/>
            <p:nvPr/>
          </p:nvGrpSpPr>
          <p:grpSpPr>
            <a:xfrm>
              <a:off x="0" y="-21034"/>
              <a:ext cx="9143999" cy="449638"/>
              <a:chOff x="4693403" y="1672032"/>
              <a:chExt cx="3921281" cy="354747"/>
            </a:xfrm>
          </p:grpSpPr>
          <p:sp>
            <p:nvSpPr>
              <p:cNvPr id="13" name="AutoShape 55"/>
              <p:cNvSpPr>
                <a:spLocks noChangeArrowheads="1"/>
              </p:cNvSpPr>
              <p:nvPr/>
            </p:nvSpPr>
            <p:spPr bwMode="auto">
              <a:xfrm>
                <a:off x="4693699" y="1672032"/>
                <a:ext cx="3920985" cy="354747"/>
              </a:xfrm>
              <a:prstGeom prst="roundRect">
                <a:avLst>
                  <a:gd name="adj" fmla="val 0"/>
                </a:avLst>
              </a:prstGeom>
              <a:solidFill>
                <a:srgbClr val="0070C0"/>
              </a:solidFill>
              <a:ln w="3175">
                <a:noFill/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>
                  <a:solidFill>
                    <a:prstClr val="black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</p:txBody>
          </p:sp>
          <p:sp>
            <p:nvSpPr>
              <p:cNvPr id="14" name="자유형 13"/>
              <p:cNvSpPr/>
              <p:nvPr/>
            </p:nvSpPr>
            <p:spPr>
              <a:xfrm>
                <a:off x="4693403" y="1672342"/>
                <a:ext cx="245068" cy="346220"/>
              </a:xfrm>
              <a:custGeom>
                <a:avLst/>
                <a:gdLst>
                  <a:gd name="connsiteX0" fmla="*/ 0 w 922421"/>
                  <a:gd name="connsiteY0" fmla="*/ 409074 h 409074"/>
                  <a:gd name="connsiteX1" fmla="*/ 922421 w 922421"/>
                  <a:gd name="connsiteY1" fmla="*/ 0 h 409074"/>
                  <a:gd name="connsiteX2" fmla="*/ 0 w 922421"/>
                  <a:gd name="connsiteY2" fmla="*/ 0 h 409074"/>
                  <a:gd name="connsiteX3" fmla="*/ 0 w 922421"/>
                  <a:gd name="connsiteY3" fmla="*/ 409074 h 409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2421" h="409074">
                    <a:moveTo>
                      <a:pt x="0" y="409074"/>
                    </a:moveTo>
                    <a:lnTo>
                      <a:pt x="922421" y="0"/>
                    </a:lnTo>
                    <a:lnTo>
                      <a:pt x="0" y="0"/>
                    </a:lnTo>
                    <a:lnTo>
                      <a:pt x="0" y="409074"/>
                    </a:lnTo>
                    <a:close/>
                  </a:path>
                </a:pathLst>
              </a:custGeom>
              <a:gradFill>
                <a:gsLst>
                  <a:gs pos="100000">
                    <a:schemeClr val="bg1">
                      <a:alpha val="10000"/>
                    </a:schemeClr>
                  </a:gs>
                  <a:gs pos="0">
                    <a:schemeClr val="bg1">
                      <a:alpha val="27000"/>
                    </a:schemeClr>
                  </a:gs>
                </a:gsLst>
                <a:lin ang="9000000" scaled="0"/>
              </a:gradFill>
              <a:ln w="15875" cap="rnd">
                <a:noFill/>
                <a:tailEnd type="none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>
                  <a:solidFill>
                    <a:prstClr val="white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</p:txBody>
          </p:sp>
        </p:grpSp>
        <p:sp>
          <p:nvSpPr>
            <p:cNvPr id="29" name="제목 114"/>
            <p:cNvSpPr txBox="1">
              <a:spLocks/>
            </p:cNvSpPr>
            <p:nvPr/>
          </p:nvSpPr>
          <p:spPr>
            <a:xfrm>
              <a:off x="50768" y="456519"/>
              <a:ext cx="6164306" cy="329275"/>
            </a:xfrm>
            <a:prstGeom prst="rect">
              <a:avLst/>
            </a:prstGeom>
            <a:effectLst>
              <a:outerShdw blurRad="76200" dir="5400000" algn="ctr" rotWithShape="0">
                <a:sysClr val="windowText" lastClr="000000"/>
              </a:outerShdw>
            </a:effectLst>
          </p:spPr>
          <p:txBody>
            <a:bodyPr anchor="ctr" anchorCtr="0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0" latinLnBrk="0" hangingPunct="0">
                <a:defRPr/>
              </a:pPr>
              <a:r>
                <a:rPr lang="en-US" altLang="ko-KR" sz="2000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헤드라인M" panose="02030600000101010101" pitchFamily="18" charset="-127"/>
                  <a:ea typeface="HY헤드라인M" panose="02030600000101010101" pitchFamily="18" charset="-127"/>
                  <a:cs typeface="Arial" pitchFamily="34" charset="0"/>
                </a:rPr>
                <a:t>   </a:t>
              </a:r>
              <a:endParaRPr lang="ko-KR" altLang="en-US" sz="2000" kern="0" dirty="0">
                <a:gradFill>
                  <a:gsLst>
                    <a:gs pos="100000">
                      <a:prstClr val="white"/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0"/>
              </a:endParaRPr>
            </a:p>
          </p:txBody>
        </p:sp>
      </p:grpSp>
      <p:sp>
        <p:nvSpPr>
          <p:cNvPr id="11" name="직사각형 10"/>
          <p:cNvSpPr/>
          <p:nvPr/>
        </p:nvSpPr>
        <p:spPr>
          <a:xfrm>
            <a:off x="357158" y="1285860"/>
            <a:ext cx="8429684" cy="5286412"/>
          </a:xfrm>
          <a:prstGeom prst="rect">
            <a:avLst/>
          </a:prstGeom>
          <a:noFill/>
          <a:ln w="6350" cap="rnd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>
              <a:solidFill>
                <a:prstClr val="white"/>
              </a:solidFill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15" name="제목 114"/>
          <p:cNvSpPr txBox="1">
            <a:spLocks/>
          </p:cNvSpPr>
          <p:nvPr/>
        </p:nvSpPr>
        <p:spPr>
          <a:xfrm>
            <a:off x="-32" y="39106"/>
            <a:ext cx="5724160" cy="329275"/>
          </a:xfrm>
          <a:prstGeom prst="rect">
            <a:avLst/>
          </a:prstGeom>
          <a:effectLst>
            <a:outerShdw blurRad="76200" dir="5400000" algn="ctr" rotWithShape="0">
              <a:sysClr val="windowText" lastClr="000000"/>
            </a:outerShdw>
          </a:effectLst>
        </p:spPr>
        <p:txBody>
          <a:bodyPr anchor="ctr" anchorCtr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latinLnBrk="0" hangingPunct="0">
              <a:defRPr/>
            </a:pPr>
            <a:r>
              <a:rPr lang="en-US" altLang="ko-KR" sz="2400" kern="0" dirty="0">
                <a:solidFill/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0"/>
              </a:rPr>
              <a:t>5. </a:t>
            </a:r>
            <a:r>
              <a:rPr lang="ko-KR" altLang="en-US" sz="2400" kern="0" dirty="0">
                <a:solidFill/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0"/>
              </a:rPr>
              <a:t>지식재산권</a:t>
            </a:r>
            <a:r>
              <a:rPr lang="en-US" altLang="ko-KR" sz="2400" kern="0" dirty="0">
                <a:solidFill/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0"/>
              </a:rPr>
              <a:t>,</a:t>
            </a:r>
            <a:r>
              <a:rPr lang="ko-KR" altLang="en-US" sz="2400" kern="0" dirty="0">
                <a:solidFill/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0"/>
              </a:rPr>
              <a:t> 인증</a:t>
            </a:r>
            <a:r>
              <a:rPr lang="en-US" altLang="ko-KR" sz="2400" kern="0" dirty="0">
                <a:solidFill/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0"/>
              </a:rPr>
              <a:t>, </a:t>
            </a:r>
            <a:r>
              <a:rPr lang="ko-KR" altLang="en-US" sz="2400" kern="0" dirty="0">
                <a:solidFill/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0"/>
              </a:rPr>
              <a:t>수상내역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1826" y="1444134"/>
            <a:ext cx="83650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0070C0"/>
                </a:solidFill>
                <a:latin typeface="맑은 고딕"/>
              </a:rPr>
              <a:t>지식재산권 계획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>  "렌트미(RentMe)" 서비스 상표 출원 예정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>  다층 신뢰 스코어링 알고리즘 특허 출원 예정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>  AI 기반 세입자 자기소개 생성 방법 특허 출원 예정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0070C0"/>
                </a:solidFill>
                <a:latin typeface="맑은 고딕"/>
              </a:rPr>
              <a:t>기술 인증 현황 (MVP 구현 완료)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>  자체 스크래핑 인증 구현 완료 — 본인인증 후 재직/소득/신용 자동 수집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>  NICE API 연동 완료 — 본인인증 CI/DI 발급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>  OpenAI GPT-4o-mini 연동 완료 — AI 자기소개 생성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>  소셜 로그인 3종 연동 완료 — 카카오/네이버/구글 OAuth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>  보안 시스템 구현 완료 — Rate Limiting, CSRF, XSS, AES-256, RLS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>  테스트 환경 구축 완료 — Vitest(단위) + Playwright(E2E)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0070C0"/>
                </a:solidFill>
                <a:latin typeface="맑은 고딕"/>
              </a:rPr>
              <a:t>창업지원사업 현황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>  2026 예비창업패키지 (중소벤처기업부, 최대 1억원) — 신청 중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>  2026 경기창업공모 G스타 오디션 (예비/초기리그) — 신청 중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>  2026 경기창업혁신공간 동부권(하남) 틔움 입주 — 신청 중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0070C0"/>
                </a:solidFill>
                <a:latin typeface="맑은 고딕"/>
              </a:rPr>
              <a:t>가점 해당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2D2D2D"/>
                </a:solidFill>
                <a:latin typeface="맑은 고딕"/>
              </a:rPr>
              <a:t>  신산업 창업분야 (D.N.A - 인공지능) — </a:t>
            </a:r>
            <a:r>
              <a:rPr sz="1200" b="1">
                <a:solidFill>
                  <a:srgbClr val="27AE60"/>
                </a:solidFill>
                <a:latin typeface="맑은 고딕"/>
              </a:rPr>
              <a:t>가점 1점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65"/>
          <p:cNvGrpSpPr/>
          <p:nvPr/>
        </p:nvGrpSpPr>
        <p:grpSpPr>
          <a:xfrm>
            <a:off x="0" y="-4786"/>
            <a:ext cx="9144000" cy="1244980"/>
            <a:chOff x="0" y="-21034"/>
            <a:chExt cx="9144000" cy="1244980"/>
          </a:xfrm>
        </p:grpSpPr>
        <p:sp>
          <p:nvSpPr>
            <p:cNvPr id="3" name="직사각형 2"/>
            <p:cNvSpPr/>
            <p:nvPr/>
          </p:nvSpPr>
          <p:spPr>
            <a:xfrm>
              <a:off x="0" y="423865"/>
              <a:ext cx="9144000" cy="44290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휴먼명조" pitchFamily="2" charset="-127"/>
                <a:ea typeface="휴먼명조" pitchFamily="2" charset="-127"/>
              </a:endParaRPr>
            </a:p>
          </p:txBody>
        </p:sp>
        <p:sp>
          <p:nvSpPr>
            <p:cNvPr id="4" name="직각 삼각형 3"/>
            <p:cNvSpPr/>
            <p:nvPr/>
          </p:nvSpPr>
          <p:spPr>
            <a:xfrm rot="5400000" flipV="1">
              <a:off x="211902" y="831038"/>
              <a:ext cx="357188" cy="428628"/>
            </a:xfrm>
            <a:prstGeom prst="rt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휴먼명조" pitchFamily="2" charset="-127"/>
                <a:ea typeface="휴먼명조" pitchFamily="2" charset="-127"/>
              </a:endParaRPr>
            </a:p>
          </p:txBody>
        </p:sp>
        <p:grpSp>
          <p:nvGrpSpPr>
            <p:cNvPr id="5" name="그룹 10"/>
            <p:cNvGrpSpPr/>
            <p:nvPr/>
          </p:nvGrpSpPr>
          <p:grpSpPr>
            <a:xfrm>
              <a:off x="0" y="-21034"/>
              <a:ext cx="9143999" cy="449638"/>
              <a:chOff x="4693403" y="1672032"/>
              <a:chExt cx="3921281" cy="354747"/>
            </a:xfrm>
          </p:grpSpPr>
          <p:sp>
            <p:nvSpPr>
              <p:cNvPr id="13" name="AutoShape 55"/>
              <p:cNvSpPr>
                <a:spLocks noChangeArrowheads="1"/>
              </p:cNvSpPr>
              <p:nvPr/>
            </p:nvSpPr>
            <p:spPr bwMode="auto">
              <a:xfrm>
                <a:off x="4693699" y="1672032"/>
                <a:ext cx="3920985" cy="354747"/>
              </a:xfrm>
              <a:prstGeom prst="roundRect">
                <a:avLst>
                  <a:gd name="adj" fmla="val 0"/>
                </a:avLst>
              </a:prstGeom>
              <a:solidFill>
                <a:srgbClr val="0070C0"/>
              </a:solidFill>
              <a:ln w="3175">
                <a:noFill/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>
                  <a:solidFill>
                    <a:prstClr val="black"/>
                  </a:solidFill>
                  <a:latin typeface="HY견고딕" pitchFamily="18" charset="-127"/>
                  <a:ea typeface="HY견고딕" pitchFamily="18" charset="-127"/>
                </a:endParaRPr>
              </a:p>
            </p:txBody>
          </p:sp>
          <p:sp>
            <p:nvSpPr>
              <p:cNvPr id="14" name="자유형 13"/>
              <p:cNvSpPr/>
              <p:nvPr/>
            </p:nvSpPr>
            <p:spPr>
              <a:xfrm>
                <a:off x="4693403" y="1672342"/>
                <a:ext cx="245068" cy="346220"/>
              </a:xfrm>
              <a:custGeom>
                <a:avLst/>
                <a:gdLst>
                  <a:gd name="connsiteX0" fmla="*/ 0 w 922421"/>
                  <a:gd name="connsiteY0" fmla="*/ 409074 h 409074"/>
                  <a:gd name="connsiteX1" fmla="*/ 922421 w 922421"/>
                  <a:gd name="connsiteY1" fmla="*/ 0 h 409074"/>
                  <a:gd name="connsiteX2" fmla="*/ 0 w 922421"/>
                  <a:gd name="connsiteY2" fmla="*/ 0 h 409074"/>
                  <a:gd name="connsiteX3" fmla="*/ 0 w 922421"/>
                  <a:gd name="connsiteY3" fmla="*/ 409074 h 409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2421" h="409074">
                    <a:moveTo>
                      <a:pt x="0" y="409074"/>
                    </a:moveTo>
                    <a:lnTo>
                      <a:pt x="922421" y="0"/>
                    </a:lnTo>
                    <a:lnTo>
                      <a:pt x="0" y="0"/>
                    </a:lnTo>
                    <a:lnTo>
                      <a:pt x="0" y="409074"/>
                    </a:lnTo>
                    <a:close/>
                  </a:path>
                </a:pathLst>
              </a:custGeom>
              <a:gradFill>
                <a:gsLst>
                  <a:gs pos="100000">
                    <a:schemeClr val="bg1">
                      <a:alpha val="10000"/>
                    </a:schemeClr>
                  </a:gs>
                  <a:gs pos="0">
                    <a:schemeClr val="bg1">
                      <a:alpha val="27000"/>
                    </a:schemeClr>
                  </a:gs>
                </a:gsLst>
                <a:lin ang="9000000" scaled="0"/>
              </a:gradFill>
              <a:ln w="15875" cap="rnd">
                <a:noFill/>
                <a:tailEnd type="none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>
                  <a:solidFill>
                    <a:prstClr val="white"/>
                  </a:solidFill>
                  <a:latin typeface="HY견고딕" pitchFamily="18" charset="-127"/>
                  <a:ea typeface="HY견고딕" pitchFamily="18" charset="-127"/>
                </a:endParaRPr>
              </a:p>
            </p:txBody>
          </p:sp>
        </p:grpSp>
        <p:sp>
          <p:nvSpPr>
            <p:cNvPr id="29" name="제목 114"/>
            <p:cNvSpPr txBox="1">
              <a:spLocks/>
            </p:cNvSpPr>
            <p:nvPr/>
          </p:nvSpPr>
          <p:spPr>
            <a:xfrm>
              <a:off x="50768" y="456519"/>
              <a:ext cx="6164306" cy="329275"/>
            </a:xfrm>
            <a:prstGeom prst="rect">
              <a:avLst/>
            </a:prstGeom>
            <a:effectLst>
              <a:outerShdw blurRad="76200" dir="5400000" algn="ctr" rotWithShape="0">
                <a:sysClr val="windowText" lastClr="000000"/>
              </a:outerShdw>
            </a:effectLst>
          </p:spPr>
          <p:txBody>
            <a:bodyPr anchor="ctr" anchorCtr="0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0" latinLnBrk="0" hangingPunct="0">
                <a:defRPr/>
              </a:pPr>
              <a:r>
                <a:rPr lang="en-US" altLang="ko-KR" sz="2000" kern="0" dirty="0">
                  <a:gradFill>
                    <a:gsLst>
                      <a:gs pos="100000">
                        <a:prstClr val="white"/>
                      </a:gs>
                      <a:gs pos="100000">
                        <a:srgbClr val="0070C0"/>
                      </a:gs>
                    </a:gsLst>
                    <a:lin ang="5400000" scaled="0"/>
                  </a:gradFill>
                  <a:latin typeface="HY견고딕" pitchFamily="18" charset="-127"/>
                  <a:ea typeface="HY견고딕" pitchFamily="18" charset="-127"/>
                  <a:cs typeface="Arial" pitchFamily="34" charset="0"/>
                </a:rPr>
                <a:t> -     </a:t>
              </a:r>
              <a:endParaRPr lang="ko-KR" altLang="en-US" sz="2000" kern="0" dirty="0">
                <a:gradFill>
                  <a:gsLst>
                    <a:gs pos="100000">
                      <a:prstClr val="white"/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HY견고딕" pitchFamily="18" charset="-127"/>
                <a:ea typeface="HY견고딕" pitchFamily="18" charset="-127"/>
                <a:cs typeface="Arial" pitchFamily="34" charset="0"/>
              </a:endParaRPr>
            </a:p>
          </p:txBody>
        </p:sp>
      </p:grpSp>
      <p:sp>
        <p:nvSpPr>
          <p:cNvPr id="11" name="직사각형 10"/>
          <p:cNvSpPr/>
          <p:nvPr/>
        </p:nvSpPr>
        <p:spPr>
          <a:xfrm>
            <a:off x="357158" y="1285860"/>
            <a:ext cx="8429684" cy="5286412"/>
          </a:xfrm>
          <a:prstGeom prst="rect">
            <a:avLst/>
          </a:prstGeom>
          <a:noFill/>
          <a:ln w="6350" cap="rnd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>
              <a:solidFill>
                <a:prstClr val="white"/>
              </a:solidFill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18" name="제목 114"/>
          <p:cNvSpPr txBox="1">
            <a:spLocks/>
          </p:cNvSpPr>
          <p:nvPr/>
        </p:nvSpPr>
        <p:spPr>
          <a:xfrm>
            <a:off x="-32" y="39106"/>
            <a:ext cx="4857784" cy="329275"/>
          </a:xfrm>
          <a:prstGeom prst="rect">
            <a:avLst/>
          </a:prstGeom>
          <a:effectLst>
            <a:outerShdw blurRad="76200" dir="5400000" algn="ctr" rotWithShape="0">
              <a:sysClr val="windowText" lastClr="000000"/>
            </a:outerShdw>
          </a:effectLst>
        </p:spPr>
        <p:txBody>
          <a:bodyPr anchor="ctr" anchorCtr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latinLnBrk="0" hangingPunct="0">
              <a:defRPr/>
            </a:pPr>
            <a:r>
              <a:rPr lang="en-US" altLang="ko-KR" sz="2400" kern="0" dirty="0">
                <a:solidFill/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0"/>
              </a:rPr>
              <a:t>6. </a:t>
            </a:r>
            <a:r>
              <a:rPr lang="ko-KR" altLang="en-US" sz="2400" kern="0" dirty="0">
                <a:solidFill/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0"/>
              </a:rPr>
              <a:t>기타사항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826" y="1444134"/>
            <a:ext cx="8365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0070C0"/>
                </a:solidFill>
                <a:latin typeface="맑은 고딕"/>
              </a:rPr>
              <a:t>입주 공간 필요성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>  예비창업자 → 사업자등록을 위한 사업장 주소 필요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>  입주 확정 시 퇴사 → 풀타임 전환 → 즉시 법인설립 + 서비스 런칭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>  동부권(하남/광주/성남) 부동산 중개업소 B2B 영업 지리적 접근성 우수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0070C0"/>
                </a:solidFill>
                <a:latin typeface="맑은 고딕"/>
              </a:rPr>
              <a:t>공간 활용 계획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>  제품 개발/운영: 서비스 고도화, 모바일 앱 개발, 상시 운영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>  사업장 등록: 입주 후 3개월 이내 법인 설립 + 사업자등록(본사 주소)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>  B2B 미팅: 동부권 부동산 중개업소 영업 거점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>  투자 IR: 센터 내 회의실 활용, VC/AC 투자 미팅 진행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0070C0"/>
                </a:solidFill>
                <a:latin typeface="맑은 고딕"/>
              </a:rPr>
              <a:t>입주 후 추진 일정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>  2026.04~06  퇴사 및 법인 설립, 풀타임 전환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>  2026.06~07  서비스 정식 런칭 (웹)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>  2026.07~09  셰어하우스 B2B 제휴, 초기 사용자 1,000명 확보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>  2026.09~12  B2C 프리미엄 출시, MAU 3,000명 달성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>  2027.01~     모바일 앱 출시, B2B SaaS, Seed 투자 유치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0070C0"/>
                </a:solidFill>
                <a:latin typeface="맑은 고딕"/>
              </a:rPr>
              <a:t>기대효과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>  무상 입주 → 초기 고정비 절감(임대료 0원), 사업화 자금에 집중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>  입주기업 네트워킹/멘토링/오픈이노베이션 → BM 고도화 + 투자 준비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D2D2D"/>
                </a:solidFill>
                <a:latin typeface="맑은 고딕"/>
              </a:rPr>
              <a:t>  경기도 창업지원사업/전세피해지원센터 등 지역 자원 연계 활용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자유형 6"/>
          <p:cNvSpPr/>
          <p:nvPr/>
        </p:nvSpPr>
        <p:spPr>
          <a:xfrm>
            <a:off x="3149777" y="3337243"/>
            <a:ext cx="3177332" cy="45719"/>
          </a:xfrm>
          <a:custGeom>
            <a:avLst/>
            <a:gdLst>
              <a:gd name="connsiteX0" fmla="*/ 0 w 7879404"/>
              <a:gd name="connsiteY0" fmla="*/ 0 h 0"/>
              <a:gd name="connsiteX1" fmla="*/ 7879404 w 7879404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879404">
                <a:moveTo>
                  <a:pt x="0" y="0"/>
                </a:moveTo>
                <a:lnTo>
                  <a:pt x="7879404" y="0"/>
                </a:lnTo>
              </a:path>
            </a:pathLst>
          </a:custGeom>
          <a:noFill/>
          <a:ln w="31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solidFill>
                <a:prstClr val="white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3126233" y="2378710"/>
            <a:ext cx="3200876" cy="8309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latinLnBrk="0"/>
            <a:r>
              <a:rPr lang="ko-KR" altLang="en-US" sz="4800" kern="0" spc="-380" dirty="0">
                <a:ln w="11430"/>
                <a:gradFill>
                  <a:gsLst>
                    <a:gs pos="44000">
                      <a:srgbClr val="004785">
                        <a:lumMod val="60000"/>
                        <a:lumOff val="40000"/>
                      </a:srgbClr>
                    </a:gs>
                    <a:gs pos="59000">
                      <a:srgbClr val="004785">
                        <a:lumMod val="75000"/>
                      </a:srgbClr>
                    </a:gs>
                    <a:gs pos="100000">
                      <a:srgbClr val="0070C0"/>
                    </a:gs>
                    <a:gs pos="0">
                      <a:srgbClr val="0F243D"/>
                    </a:gs>
                    <a:gs pos="100000">
                      <a:srgbClr val="004785">
                        <a:lumMod val="50000"/>
                      </a:srgbClr>
                    </a:gs>
                  </a:gsLst>
                  <a:lin ang="5400000" scaled="0"/>
                </a:gradFill>
                <a:effectLst>
                  <a:outerShdw blurRad="38100" dist="12700" dir="5400000" algn="tl" rotWithShape="0">
                    <a:srgbClr val="000000">
                      <a:alpha val="30000"/>
                    </a:srgbClr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</a:rPr>
              <a:t>감사합니다</a:t>
            </a:r>
            <a:r>
              <a:rPr lang="en-US" altLang="ko-KR" sz="4800" kern="0" spc="-380" dirty="0">
                <a:ln w="11430"/>
                <a:gradFill>
                  <a:gsLst>
                    <a:gs pos="44000">
                      <a:srgbClr val="004785">
                        <a:lumMod val="60000"/>
                        <a:lumOff val="40000"/>
                      </a:srgbClr>
                    </a:gs>
                    <a:gs pos="59000">
                      <a:srgbClr val="004785">
                        <a:lumMod val="75000"/>
                      </a:srgbClr>
                    </a:gs>
                    <a:gs pos="100000">
                      <a:srgbClr val="0070C0"/>
                    </a:gs>
                    <a:gs pos="0">
                      <a:srgbClr val="0F243D"/>
                    </a:gs>
                    <a:gs pos="100000">
                      <a:srgbClr val="004785">
                        <a:lumMod val="50000"/>
                      </a:srgbClr>
                    </a:gs>
                  </a:gsLst>
                  <a:lin ang="5400000" scaled="0"/>
                </a:gradFill>
                <a:effectLst>
                  <a:outerShdw blurRad="38100" dist="12700" dir="5400000" algn="tl" rotWithShape="0">
                    <a:srgbClr val="000000">
                      <a:alpha val="30000"/>
                    </a:srgbClr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sz="4800" kern="0" spc="-380" dirty="0">
              <a:ln w="11430"/>
              <a:gradFill>
                <a:gsLst>
                  <a:gs pos="44000">
                    <a:srgbClr val="004785">
                      <a:lumMod val="60000"/>
                      <a:lumOff val="40000"/>
                    </a:srgbClr>
                  </a:gs>
                  <a:gs pos="59000">
                    <a:srgbClr val="004785">
                      <a:lumMod val="75000"/>
                    </a:srgbClr>
                  </a:gs>
                  <a:gs pos="100000">
                    <a:srgbClr val="0070C0"/>
                  </a:gs>
                  <a:gs pos="0">
                    <a:srgbClr val="0F243D"/>
                  </a:gs>
                  <a:gs pos="100000">
                    <a:srgbClr val="004785">
                      <a:lumMod val="50000"/>
                    </a:srgbClr>
                  </a:gs>
                </a:gsLst>
                <a:lin ang="5400000" scaled="0"/>
              </a:gradFill>
              <a:effectLst>
                <a:outerShdw blurRad="38100" dist="12700" dir="5400000" algn="tl" rotWithShape="0">
                  <a:srgbClr val="000000">
                    <a:alpha val="30000"/>
                  </a:srgbClr>
                </a:outerShdw>
              </a:effectLst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" y="0"/>
            <a:ext cx="533399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휴먼명조" pitchFamily="2" charset="-127"/>
              <a:ea typeface="휴먼명조" pitchFamily="2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163482" y="311128"/>
            <a:ext cx="214314" cy="214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163482" y="811194"/>
            <a:ext cx="214314" cy="214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163482" y="1277922"/>
            <a:ext cx="214314" cy="214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163482" y="1777988"/>
            <a:ext cx="214314" cy="214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163482" y="2239954"/>
            <a:ext cx="214314" cy="214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163482" y="2740020"/>
            <a:ext cx="214314" cy="214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163482" y="3240086"/>
            <a:ext cx="214314" cy="214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>
            <a:off x="163482" y="3740152"/>
            <a:ext cx="214314" cy="214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163482" y="4240218"/>
            <a:ext cx="214314" cy="214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/>
          <p:cNvSpPr/>
          <p:nvPr/>
        </p:nvSpPr>
        <p:spPr>
          <a:xfrm>
            <a:off x="163482" y="4740284"/>
            <a:ext cx="214314" cy="214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163482" y="5283212"/>
            <a:ext cx="214314" cy="214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>
            <a:off x="163482" y="5783278"/>
            <a:ext cx="214314" cy="214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163482" y="6283344"/>
            <a:ext cx="214314" cy="214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슬라이드 번호 개체 틀 31"/>
          <p:cNvSpPr>
            <a:spLocks noGrp="1"/>
          </p:cNvSpPr>
          <p:nvPr>
            <p:ph type="sldNum" sz="quarter" idx="12"/>
          </p:nvPr>
        </p:nvSpPr>
        <p:spPr>
          <a:xfrm>
            <a:off x="6985000" y="6483350"/>
            <a:ext cx="2133600" cy="365125"/>
          </a:xfrm>
        </p:spPr>
        <p:txBody>
          <a:bodyPr/>
          <a:lstStyle/>
          <a:p>
            <a:fld id="{5A37A3E3-25FC-48B3-9BA0-5257658B7511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1899</TotalTime>
  <Words>269</Words>
  <Application>Microsoft Office PowerPoint</Application>
  <PresentationFormat>화면 슬라이드 쇼(4:3)</PresentationFormat>
  <Paragraphs>54</Paragraphs>
  <Slides>10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HY견고딕</vt:lpstr>
      <vt:lpstr>HY헤드라인M</vt:lpstr>
      <vt:lpstr>맑은 고딕</vt:lpstr>
      <vt:lpstr>-윤고딕330</vt:lpstr>
      <vt:lpstr>휴먼명조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최영준</dc:creator>
  <cp:lastModifiedBy>user</cp:lastModifiedBy>
  <cp:revision>252</cp:revision>
  <dcterms:created xsi:type="dcterms:W3CDTF">2017-02-27T05:23:08Z</dcterms:created>
  <dcterms:modified xsi:type="dcterms:W3CDTF">2026-02-23T04:57:54Z</dcterms:modified>
</cp:coreProperties>
</file>