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303" r:id="rId4"/>
    <p:sldId id="306" r:id="rId5"/>
    <p:sldId id="312" r:id="rId6"/>
    <p:sldId id="315" r:id="rId7"/>
    <p:sldId id="305" r:id="rId8"/>
    <p:sldId id="307" r:id="rId9"/>
    <p:sldId id="314" r:id="rId10"/>
    <p:sldId id="300" r:id="rId11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9999"/>
    <a:srgbClr val="FFFF66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131" autoAdjust="0"/>
  </p:normalViewPr>
  <p:slideViewPr>
    <p:cSldViewPr>
      <p:cViewPr varScale="1">
        <p:scale>
          <a:sx n="106" d="100"/>
          <a:sy n="106" d="100"/>
        </p:scale>
        <p:origin x="204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9548F-4BA9-4276-8CED-B91AA9EFE34D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BE3D3-667E-4E0A-BCD0-ADD1A141D3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42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9F081-29D6-4933-88BA-2694DE7C75E4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498F5-1863-4326-AE9F-07B1E46BDE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71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9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478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996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527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269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134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886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005B-A48E-4F0C-B96B-F928E6D27A7D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21C6-28AE-4D1E-B30A-1A1025E14814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B748-3232-4BD7-98E6-AC25B3EBBA49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6533-712A-4E99-876F-D6F841EBD310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AB37-B9D0-4C7E-BE15-C789512BC966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32DD8-DDFB-4D2E-9C7D-3C8244CEA803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3B57-6F50-40C3-9C23-9613D470F48A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D445-3F97-42B1-BE95-B3DE82F63345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2B003-ECE2-4C09-81CB-17941C874D1D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4421-F5A5-43BD-AF9C-D6F4D96AED1B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567E5-E0AC-4EA8-8CCB-A5D525E32558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CD8FB-B545-47EC-84C1-46E3021F8F77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760979" y="3822516"/>
            <a:ext cx="1449436" cy="4821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sz="2000" kern="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2024.   .   .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847799" y="2241427"/>
            <a:ext cx="59855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30325" eaLnBrk="0" latinLnBrk="0" hangingPunct="0">
              <a:buSzPct val="100000"/>
              <a:defRPr/>
            </a:pPr>
            <a:endParaRPr lang="ko-KR" altLang="en-US" sz="2000" kern="0" spc="-150" dirty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259632" y="5085184"/>
            <a:ext cx="6848983" cy="9079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30325" eaLnBrk="0" latinLnBrk="0" hangingPunct="0">
              <a:spcAft>
                <a:spcPts val="600"/>
              </a:spcAft>
              <a:buSzPct val="100000"/>
              <a:defRPr/>
            </a:pPr>
            <a:r>
              <a:rPr lang="ko-KR" altLang="en-US" sz="2400" b="1" kern="0" spc="-15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경기창업혁신공간 </a:t>
            </a:r>
            <a:r>
              <a:rPr lang="en-US" altLang="ko-KR" sz="2400" b="1" kern="0" spc="-15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b="1" kern="0" spc="-15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동부권역</a:t>
            </a:r>
            <a:r>
              <a:rPr lang="en-US" altLang="ko-KR" sz="2400" b="1" kern="0" spc="-15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_</a:t>
            </a:r>
            <a:r>
              <a:rPr lang="ko-KR" altLang="en-US" sz="2400" b="1" kern="0" spc="-15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하남</a:t>
            </a:r>
            <a:r>
              <a:rPr lang="en-US" altLang="ko-KR" sz="2400" b="1" kern="0" spc="-15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algn="ctr" defTabSz="1330325" eaLnBrk="0" latinLnBrk="0" hangingPunct="0">
              <a:spcAft>
                <a:spcPts val="600"/>
              </a:spcAft>
              <a:buSzPct val="100000"/>
              <a:defRPr/>
            </a:pPr>
            <a:r>
              <a:rPr lang="en-US" altLang="ko-KR" sz="2400" b="1" kern="0" spc="-15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b="1" kern="0" spc="-15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기업명</a:t>
            </a:r>
            <a:r>
              <a:rPr lang="en-US" altLang="ko-KR" sz="2400" b="1" kern="0" spc="-15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400" b="1" kern="0" spc="-150" dirty="0" err="1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대표명</a:t>
            </a:r>
            <a:r>
              <a:rPr lang="en-US" altLang="ko-KR" sz="2400" b="1" kern="0" spc="-15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3AFDD9-8618-4D37-8BDB-6C7BE45CF000}"/>
              </a:ext>
            </a:extLst>
          </p:cNvPr>
          <p:cNvGrpSpPr/>
          <p:nvPr/>
        </p:nvGrpSpPr>
        <p:grpSpPr>
          <a:xfrm>
            <a:off x="1185840" y="2060848"/>
            <a:ext cx="6922775" cy="1205216"/>
            <a:chOff x="1185840" y="1588137"/>
            <a:chExt cx="6922775" cy="1205216"/>
          </a:xfrm>
        </p:grpSpPr>
        <p:sp>
          <p:nvSpPr>
            <p:cNvPr id="6" name="자유형 5"/>
            <p:cNvSpPr/>
            <p:nvPr/>
          </p:nvSpPr>
          <p:spPr>
            <a:xfrm>
              <a:off x="1185840" y="2747634"/>
              <a:ext cx="6922775" cy="45719"/>
            </a:xfrm>
            <a:custGeom>
              <a:avLst/>
              <a:gdLst>
                <a:gd name="connsiteX0" fmla="*/ 0 w 7879404"/>
                <a:gd name="connsiteY0" fmla="*/ 0 h 0"/>
                <a:gd name="connsiteX1" fmla="*/ 7879404 w 787940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9404">
                  <a:moveTo>
                    <a:pt x="0" y="0"/>
                  </a:moveTo>
                  <a:lnTo>
                    <a:pt x="7879404" y="0"/>
                  </a:lnTo>
                </a:path>
              </a:pathLst>
            </a:custGeom>
            <a:noFill/>
            <a:ln w="31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prstClr val="white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1186499" y="1588137"/>
              <a:ext cx="6815599" cy="10772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견고딕" pitchFamily="18" charset="-127"/>
                  <a:ea typeface="HY견고딕" pitchFamily="18" charset="-127"/>
                </a:rPr>
                <a:t> 경기</a:t>
              </a:r>
              <a:r>
                <a:rPr lang="ko-KR" altLang="en-US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창업혁신공간</a:t>
              </a:r>
              <a:r>
                <a:rPr lang="en-US" altLang="ko-KR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동부권역</a:t>
              </a:r>
              <a:r>
                <a:rPr lang="en-US" altLang="ko-KR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_</a:t>
              </a:r>
              <a:r>
                <a:rPr lang="ko-KR" altLang="en-US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하남</a:t>
              </a:r>
              <a:r>
                <a:rPr lang="en-US" altLang="ko-KR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r>
                <a:rPr lang="ko-KR" altLang="en-US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endParaRPr lang="en-US" altLang="ko-KR" sz="3200" kern="0" spc="-380" dirty="0">
                <a:ln w="11430"/>
                <a:gradFill>
                  <a:gsLst>
                    <a:gs pos="44000">
                      <a:srgbClr val="004785">
                        <a:lumMod val="60000"/>
                        <a:lumOff val="40000"/>
                      </a:srgbClr>
                    </a:gs>
                    <a:gs pos="59000">
                      <a:srgbClr val="004785">
                        <a:lumMod val="75000"/>
                      </a:srgbClr>
                    </a:gs>
                    <a:gs pos="100000">
                      <a:srgbClr val="0070C0"/>
                    </a:gs>
                    <a:gs pos="0">
                      <a:srgbClr val="0F243D"/>
                    </a:gs>
                    <a:gs pos="100000">
                      <a:srgbClr val="004785">
                        <a:lumMod val="50000"/>
                      </a:srgbClr>
                    </a:gs>
                  </a:gsLst>
                  <a:lin ang="5400000" scaled="0"/>
                </a:gradFill>
                <a:effectLst>
                  <a:outerShdw blurRad="38100" dist="12700" dir="5400000" algn="tl" rotWithShape="0">
                    <a:srgbClr val="000000">
                      <a:alpha val="30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 latinLnBrk="0"/>
              <a:r>
                <a:rPr lang="ko-KR" altLang="en-US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입주평가  발표</a:t>
              </a:r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157479" y="142852"/>
            <a:ext cx="1242648" cy="553998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sz="2000" b="1" kern="0" spc="-15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000" kern="0" spc="-15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기업로고</a:t>
            </a:r>
            <a:r>
              <a:rPr lang="en-US" altLang="ko-KR" sz="2000" b="1" kern="0" spc="-150" dirty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72" y="79502"/>
            <a:ext cx="56127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※ </a:t>
            </a:r>
            <a:r>
              <a:rPr lang="ko-KR" altLang="en-US" dirty="0">
                <a:solidFill>
                  <a:srgbClr val="FF0000"/>
                </a:solidFill>
              </a:rPr>
              <a:t>작성내용은 기업에 맞게 추가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>
                <a:solidFill>
                  <a:srgbClr val="FF0000"/>
                </a:solidFill>
              </a:rPr>
              <a:t>삭제 가능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   (</a:t>
            </a:r>
            <a:r>
              <a:rPr lang="ko-KR" altLang="en-US" dirty="0">
                <a:solidFill>
                  <a:srgbClr val="FF0000"/>
                </a:solidFill>
              </a:rPr>
              <a:t>사업계획서 내용을 요약 기재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총 </a:t>
            </a:r>
            <a:r>
              <a:rPr lang="en-US" altLang="ko-KR" b="1" dirty="0">
                <a:solidFill>
                  <a:srgbClr val="FF0000"/>
                </a:solidFill>
              </a:rPr>
              <a:t>12P</a:t>
            </a:r>
            <a:r>
              <a:rPr lang="ko-KR" altLang="en-US" b="1" dirty="0">
                <a:solidFill>
                  <a:srgbClr val="FF0000"/>
                </a:solidFill>
              </a:rPr>
              <a:t>이내 </a:t>
            </a:r>
            <a:r>
              <a:rPr lang="ko-KR" altLang="en-US" b="1" dirty="0" err="1">
                <a:solidFill>
                  <a:srgbClr val="FF0000"/>
                </a:solidFill>
              </a:rPr>
              <a:t>작성요망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발표</a:t>
            </a:r>
            <a:r>
              <a:rPr lang="en-US" altLang="ko-KR" b="1" dirty="0">
                <a:solidFill>
                  <a:srgbClr val="FF0000"/>
                </a:solidFill>
              </a:rPr>
              <a:t>5</a:t>
            </a:r>
            <a:r>
              <a:rPr lang="ko-KR" altLang="en-US" b="1" dirty="0">
                <a:solidFill>
                  <a:srgbClr val="FF0000"/>
                </a:solidFill>
              </a:rPr>
              <a:t>분 및 질의</a:t>
            </a:r>
            <a:r>
              <a:rPr lang="en-US" altLang="ko-KR" b="1" dirty="0">
                <a:solidFill>
                  <a:srgbClr val="FF0000"/>
                </a:solidFill>
              </a:rPr>
              <a:t>5</a:t>
            </a:r>
            <a:r>
              <a:rPr lang="ko-KR" altLang="en-US" b="1" dirty="0">
                <a:solidFill>
                  <a:srgbClr val="FF0000"/>
                </a:solidFill>
              </a:rPr>
              <a:t>분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endParaRPr lang="en-US" altLang="ko-KR" b="1" baseline="-25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/>
          <p:cNvGrpSpPr/>
          <p:nvPr/>
        </p:nvGrpSpPr>
        <p:grpSpPr>
          <a:xfrm>
            <a:off x="-14025" y="0"/>
            <a:ext cx="5453101" cy="6858000"/>
            <a:chOff x="0" y="0"/>
            <a:chExt cx="5453101" cy="685800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1" name="직사각형 20"/>
            <p:cNvSpPr/>
            <p:nvPr/>
          </p:nvSpPr>
          <p:spPr>
            <a:xfrm>
              <a:off x="0" y="0"/>
              <a:ext cx="392909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2" name="직각 삼각형 21"/>
            <p:cNvSpPr/>
            <p:nvPr/>
          </p:nvSpPr>
          <p:spPr>
            <a:xfrm>
              <a:off x="3929092" y="0"/>
              <a:ext cx="1524009" cy="68580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4" name="직사각형 3"/>
          <p:cNvSpPr/>
          <p:nvPr/>
        </p:nvSpPr>
        <p:spPr>
          <a:xfrm>
            <a:off x="553652" y="1522993"/>
            <a:ext cx="4317749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 </a:t>
            </a:r>
            <a:r>
              <a:rPr lang="ko-KR" altLang="en-US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회사소개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51751" y="2342654"/>
            <a:ext cx="3696514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 </a:t>
            </a:r>
            <a:r>
              <a:rPr lang="ko-KR" altLang="en-US" kern="0" spc="-40" dirty="0" err="1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기술성</a:t>
            </a:r>
            <a:endParaRPr lang="ko-KR" altLang="en-US" kern="0" spc="-40" dirty="0">
              <a:solidFill>
                <a:schemeClr val="bg1">
                  <a:lumMod val="9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716016" y="157140"/>
            <a:ext cx="4409439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30325" eaLnBrk="0" latinLnBrk="0" hangingPunct="0">
              <a:buSzPct val="100000"/>
              <a:defRPr/>
            </a:pPr>
            <a:r>
              <a:rPr lang="ko-KR" altLang="en-US" sz="2000" b="1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경기창업혁신공간 </a:t>
            </a:r>
            <a:r>
              <a:rPr lang="en-US" altLang="ko-KR" sz="2000" b="1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000" b="1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동부권역</a:t>
            </a:r>
            <a:r>
              <a:rPr lang="en-US" altLang="ko-KR" sz="2000" b="1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_</a:t>
            </a:r>
            <a:r>
              <a:rPr lang="ko-KR" altLang="en-US" sz="2000" b="1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하남</a:t>
            </a:r>
            <a:r>
              <a:rPr lang="en-US" altLang="ko-KR" sz="2000" b="1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2000" kern="0" spc="-150" dirty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084168" y="466318"/>
            <a:ext cx="2643206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30325" eaLnBrk="0" latinLnBrk="0" hangingPunct="0">
              <a:buSzPct val="100000"/>
              <a:defRPr/>
            </a:pPr>
            <a:r>
              <a:rPr lang="ko-KR" altLang="en-US" sz="1600" kern="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신규 입주기업 발표 심사</a:t>
            </a:r>
            <a:endParaRPr lang="ko-KR" altLang="en-US" sz="1400" kern="0" spc="-15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42923" y="600713"/>
            <a:ext cx="1571636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30325" eaLnBrk="0" latinLnBrk="0" hangingPunct="0">
              <a:buSzPct val="100000"/>
              <a:defRPr/>
            </a:pPr>
            <a:r>
              <a:rPr lang="ko-KR" altLang="en-US" sz="2800" b="1" kern="0" spc="-150" dirty="0">
                <a:solidFill>
                  <a:srgbClr val="00B0F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목  차</a:t>
            </a:r>
            <a:endParaRPr lang="ko-KR" altLang="en-US" sz="2400" kern="0" spc="-150" dirty="0">
              <a:solidFill>
                <a:srgbClr val="00B0F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자유형 23"/>
          <p:cNvSpPr/>
          <p:nvPr/>
        </p:nvSpPr>
        <p:spPr>
          <a:xfrm flipV="1">
            <a:off x="4186267" y="1052495"/>
            <a:ext cx="4953003" cy="71438"/>
          </a:xfrm>
          <a:custGeom>
            <a:avLst/>
            <a:gdLst>
              <a:gd name="connsiteX0" fmla="*/ 0 w 8334302"/>
              <a:gd name="connsiteY0" fmla="*/ 0 h 0"/>
              <a:gd name="connsiteX1" fmla="*/ 8334302 w 833430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34302">
                <a:moveTo>
                  <a:pt x="0" y="0"/>
                </a:moveTo>
                <a:lnTo>
                  <a:pt x="8334302" y="0"/>
                </a:lnTo>
              </a:path>
            </a:pathLst>
          </a:custGeom>
          <a:noFill/>
          <a:ln w="19050" cap="rnd">
            <a:solidFill>
              <a:schemeClr val="accent1">
                <a:lumMod val="75000"/>
              </a:schemeClr>
            </a:solidFill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prstClr val="white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609351" y="4074696"/>
            <a:ext cx="4206350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성장성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588616" y="3207063"/>
            <a:ext cx="3696514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 </a:t>
            </a:r>
            <a:r>
              <a:rPr lang="ko-KR" altLang="en-US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09351" y="4947281"/>
            <a:ext cx="4206350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인증</a:t>
            </a: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수상 내역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611560" y="5801489"/>
            <a:ext cx="4206350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기타사항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-32" y="-4786"/>
            <a:ext cx="9144032" cy="1244980"/>
            <a:chOff x="-32" y="-21034"/>
            <a:chExt cx="9144032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sp>
          <p:nvSpPr>
            <p:cNvPr id="12" name="제목 114"/>
            <p:cNvSpPr txBox="1">
              <a:spLocks/>
            </p:cNvSpPr>
            <p:nvPr/>
          </p:nvSpPr>
          <p:spPr>
            <a:xfrm>
              <a:off x="-32" y="22858"/>
              <a:ext cx="3571900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4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1. </a:t>
              </a:r>
              <a:r>
                <a:rPr lang="ko-KR" altLang="en-US" sz="24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회사소개</a:t>
              </a:r>
            </a:p>
          </p:txBody>
        </p: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509273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- </a:t>
              </a:r>
              <a:r>
                <a:rPr lang="ko-KR" altLang="en-US" sz="2000" kern="0" dirty="0" err="1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기업개요</a:t>
              </a:r>
              <a:r>
                <a:rPr lang="ko-KR" altLang="en-US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현황</a:t>
              </a: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1827" y="1444134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회사명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설립일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업종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자본금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매출액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종업원수 등 회사개요 기재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-32" y="-4786"/>
            <a:ext cx="9144032" cy="1244980"/>
            <a:chOff x="-32" y="-21034"/>
            <a:chExt cx="9144032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sp>
          <p:nvSpPr>
            <p:cNvPr id="12" name="제목 114"/>
            <p:cNvSpPr txBox="1">
              <a:spLocks/>
            </p:cNvSpPr>
            <p:nvPr/>
          </p:nvSpPr>
          <p:spPr>
            <a:xfrm>
              <a:off x="-32" y="22858"/>
              <a:ext cx="3571900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4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1. </a:t>
              </a:r>
              <a:r>
                <a:rPr lang="ko-KR" altLang="en-US" sz="24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회사소개</a:t>
              </a:r>
            </a:p>
          </p:txBody>
        </p: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509273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- </a:t>
              </a:r>
              <a:r>
                <a:rPr lang="ko-KR" altLang="en-US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대표자 역량 및 </a:t>
              </a:r>
              <a:r>
                <a:rPr lang="ko-KR" altLang="en-US" sz="2000" kern="0" dirty="0" err="1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조직현황</a:t>
              </a:r>
              <a:endParaRPr lang="ko-KR" altLang="en-US" sz="20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1827" y="1444134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대표자 전공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경력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조직도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참여인력 현황 및 담당업무 등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주요시설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장비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등 기재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0" y="-4786"/>
            <a:ext cx="9144000" cy="1244980"/>
            <a:chOff x="0" y="-21034"/>
            <a:chExt cx="9144000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616430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- </a:t>
              </a:r>
              <a:r>
                <a:rPr lang="ko-KR" altLang="en-US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기술현황</a:t>
              </a: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5" name="제목 114"/>
          <p:cNvSpPr txBox="1">
            <a:spLocks/>
          </p:cNvSpPr>
          <p:nvPr/>
        </p:nvSpPr>
        <p:spPr>
          <a:xfrm>
            <a:off x="-32" y="39106"/>
            <a:ext cx="3571900" cy="329275"/>
          </a:xfrm>
          <a:prstGeom prst="rect">
            <a:avLst/>
          </a:prstGeom>
          <a:effectLst>
            <a:outerShdw blurRad="76200" dir="5400000" algn="ctr" rotWithShape="0">
              <a:sysClr val="windowText" lastClr="000000"/>
            </a:outerShdw>
          </a:effectLst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latinLnBrk="0" hangingPunct="0">
              <a:defRPr/>
            </a:pPr>
            <a:r>
              <a:rPr lang="en-US" altLang="ko-KR" sz="24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견고딕" pitchFamily="18" charset="-127"/>
                <a:ea typeface="HY견고딕" pitchFamily="18" charset="-127"/>
                <a:cs typeface="Arial" pitchFamily="34" charset="0"/>
              </a:rPr>
              <a:t>2. </a:t>
            </a:r>
            <a:r>
              <a:rPr lang="ko-KR" altLang="en-US" sz="2400" kern="0" dirty="0" err="1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견고딕" pitchFamily="18" charset="-127"/>
                <a:ea typeface="HY견고딕" pitchFamily="18" charset="-127"/>
                <a:cs typeface="Arial" pitchFamily="34" charset="0"/>
              </a:rPr>
              <a:t>기술성</a:t>
            </a:r>
            <a:r>
              <a:rPr lang="en-US" altLang="ko-KR" sz="24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견고딕" pitchFamily="18" charset="-127"/>
                <a:ea typeface="HY견고딕" pitchFamily="18" charset="-127"/>
                <a:cs typeface="Arial" pitchFamily="34" charset="0"/>
              </a:rPr>
              <a:t> </a:t>
            </a:r>
            <a:endParaRPr lang="ko-KR" altLang="en-US" sz="2400" kern="0" dirty="0">
              <a:gradFill>
                <a:gsLst>
                  <a:gs pos="100000">
                    <a:prstClr val="white"/>
                  </a:gs>
                  <a:gs pos="100000">
                    <a:srgbClr val="0070C0"/>
                  </a:gs>
                </a:gsLst>
                <a:lin ang="5400000" scaled="0"/>
              </a:gradFill>
              <a:latin typeface="HY견고딕" pitchFamily="18" charset="-127"/>
              <a:ea typeface="HY견고딕" pitchFamily="18" charset="-127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1827" y="1444134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제품관련 기술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특허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인증 등 기재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관련증빙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사진 등 제시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0" y="-4786"/>
            <a:ext cx="9144000" cy="1244980"/>
            <a:chOff x="0" y="-21034"/>
            <a:chExt cx="9144000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616430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- </a:t>
              </a:r>
              <a:r>
                <a:rPr lang="ko-KR" altLang="en-US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시장성 및 마케팅 계획</a:t>
              </a: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5" name="제목 114"/>
          <p:cNvSpPr txBox="1">
            <a:spLocks/>
          </p:cNvSpPr>
          <p:nvPr/>
        </p:nvSpPr>
        <p:spPr>
          <a:xfrm>
            <a:off x="-32" y="39106"/>
            <a:ext cx="3571900" cy="329275"/>
          </a:xfrm>
          <a:prstGeom prst="rect">
            <a:avLst/>
          </a:prstGeom>
          <a:effectLst>
            <a:outerShdw blurRad="76200" dir="5400000" algn="ctr" rotWithShape="0">
              <a:sysClr val="windowText" lastClr="000000"/>
            </a:outerShdw>
          </a:effectLst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latinLnBrk="0" hangingPunct="0">
              <a:defRPr/>
            </a:pPr>
            <a:r>
              <a:rPr lang="en-US" altLang="ko-KR" sz="24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견고딕" pitchFamily="18" charset="-127"/>
                <a:ea typeface="HY견고딕" pitchFamily="18" charset="-127"/>
                <a:cs typeface="Arial" pitchFamily="34" charset="0"/>
              </a:rPr>
              <a:t>3. </a:t>
            </a:r>
            <a:r>
              <a:rPr lang="ko-KR" altLang="en-US" sz="24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견고딕" pitchFamily="18" charset="-127"/>
                <a:ea typeface="HY견고딕" pitchFamily="18" charset="-127"/>
                <a:cs typeface="Arial" pitchFamily="34" charset="0"/>
              </a:rPr>
              <a:t>사업성</a:t>
            </a:r>
            <a:r>
              <a:rPr lang="en-US" altLang="ko-KR" sz="24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견고딕" pitchFamily="18" charset="-127"/>
                <a:ea typeface="HY견고딕" pitchFamily="18" charset="-127"/>
                <a:cs typeface="Arial" pitchFamily="34" charset="0"/>
              </a:rPr>
              <a:t> </a:t>
            </a:r>
            <a:endParaRPr lang="ko-KR" altLang="en-US" sz="2400" kern="0" dirty="0">
              <a:gradFill>
                <a:gsLst>
                  <a:gs pos="100000">
                    <a:prstClr val="white"/>
                  </a:gs>
                  <a:gs pos="100000">
                    <a:srgbClr val="0070C0"/>
                  </a:gs>
                </a:gsLst>
                <a:lin ang="5400000" scaled="0"/>
              </a:gradFill>
              <a:latin typeface="HY견고딕" pitchFamily="18" charset="-127"/>
              <a:ea typeface="HY견고딕" pitchFamily="18" charset="-127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1826" y="1444134"/>
            <a:ext cx="7750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목표시장분석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마케팅 전략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마케팅계획 등</a:t>
            </a:r>
            <a:r>
              <a:rPr lang="en-US" altLang="ko-KR" dirty="0">
                <a:solidFill>
                  <a:srgbClr val="FF0000"/>
                </a:solidFill>
              </a:rPr>
              <a:t>), </a:t>
            </a:r>
            <a:r>
              <a:rPr lang="ko-KR" altLang="en-US" dirty="0">
                <a:solidFill>
                  <a:srgbClr val="FF0000"/>
                </a:solidFill>
              </a:rPr>
              <a:t>제품경쟁력 확보방안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기재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자본조달계획 등 기재</a:t>
            </a:r>
          </a:p>
        </p:txBody>
      </p:sp>
    </p:spTree>
    <p:extLst>
      <p:ext uri="{BB962C8B-B14F-4D97-AF65-F5344CB8AC3E}">
        <p14:creationId xmlns:p14="http://schemas.microsoft.com/office/powerpoint/2010/main" val="2391379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-32" y="-4786"/>
            <a:ext cx="9144032" cy="1244980"/>
            <a:chOff x="-32" y="-21034"/>
            <a:chExt cx="9144032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명조" pitchFamily="2" charset="-127"/>
                <a:ea typeface="휴먼명조" pitchFamily="2" charset="-127"/>
              </a:endParaRP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명조" pitchFamily="2" charset="-127"/>
                <a:ea typeface="휴먼명조" pitchFamily="2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sp>
          <p:nvSpPr>
            <p:cNvPr id="12" name="제목 114"/>
            <p:cNvSpPr txBox="1">
              <a:spLocks/>
            </p:cNvSpPr>
            <p:nvPr/>
          </p:nvSpPr>
          <p:spPr>
            <a:xfrm>
              <a:off x="-32" y="22858"/>
              <a:ext cx="3851952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4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견고딕" pitchFamily="18" charset="-127"/>
                  <a:ea typeface="HY견고딕" pitchFamily="18" charset="-127"/>
                  <a:cs typeface="Arial" pitchFamily="34" charset="0"/>
                </a:rPr>
                <a:t>4. </a:t>
              </a:r>
              <a:r>
                <a:rPr lang="ko-KR" altLang="en-US" sz="24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견고딕" pitchFamily="18" charset="-127"/>
                  <a:ea typeface="HY견고딕" pitchFamily="18" charset="-127"/>
                  <a:cs typeface="Arial" pitchFamily="34" charset="0"/>
                </a:rPr>
                <a:t>성장성</a:t>
              </a:r>
            </a:p>
          </p:txBody>
        </p: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509273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견고딕" pitchFamily="18" charset="-127"/>
                  <a:ea typeface="HY견고딕" pitchFamily="18" charset="-127"/>
                  <a:cs typeface="Arial" pitchFamily="34" charset="0"/>
                </a:rPr>
                <a:t> </a:t>
              </a: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- </a:t>
              </a:r>
              <a:r>
                <a:rPr lang="ko-KR" altLang="en-US" sz="2000" kern="0" dirty="0" err="1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재무현황</a:t>
              </a:r>
              <a:r>
                <a:rPr lang="ko-KR" altLang="en-US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및 매출현황</a:t>
              </a: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1826" y="1444134"/>
            <a:ext cx="8365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최근 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년간 재무제표현황 요약</a:t>
            </a:r>
            <a:r>
              <a:rPr lang="en-US" altLang="ko-KR" dirty="0">
                <a:solidFill>
                  <a:srgbClr val="FF0000"/>
                </a:solidFill>
              </a:rPr>
              <a:t>, 3</a:t>
            </a:r>
            <a:r>
              <a:rPr lang="ko-KR" altLang="en-US" dirty="0">
                <a:solidFill>
                  <a:srgbClr val="FF0000"/>
                </a:solidFill>
              </a:rPr>
              <a:t>년간 매출실적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국내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>
                <a:solidFill>
                  <a:srgbClr val="FF0000"/>
                </a:solidFill>
              </a:rPr>
              <a:t>외</a:t>
            </a:r>
            <a:r>
              <a:rPr lang="en-US" altLang="ko-KR" dirty="0">
                <a:solidFill>
                  <a:srgbClr val="FF0000"/>
                </a:solidFill>
              </a:rPr>
              <a:t>), </a:t>
            </a:r>
            <a:r>
              <a:rPr lang="ko-KR" altLang="en-US" dirty="0" err="1">
                <a:solidFill>
                  <a:srgbClr val="FF0000"/>
                </a:solidFill>
              </a:rPr>
              <a:t>당기순이익</a:t>
            </a:r>
            <a:r>
              <a:rPr lang="ko-KR" altLang="en-US" dirty="0">
                <a:solidFill>
                  <a:srgbClr val="FF0000"/>
                </a:solidFill>
              </a:rPr>
              <a:t> 등 기재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0" y="-4786"/>
            <a:ext cx="9144000" cy="1244980"/>
            <a:chOff x="0" y="-21034"/>
            <a:chExt cx="9144000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eaLnBrk="0" latinLnBrk="0" hangingPunct="0">
                <a:defRPr/>
              </a:pPr>
              <a:r>
                <a:rPr lang="en-US" altLang="ko-KR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- </a:t>
              </a:r>
              <a:r>
                <a:rPr lang="ko-KR" altLang="en-US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특허 </a:t>
              </a:r>
              <a:r>
                <a:rPr lang="en-US" altLang="ko-KR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· </a:t>
              </a:r>
              <a:r>
                <a:rPr lang="ko-KR" altLang="en-US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인증</a:t>
              </a:r>
              <a:r>
                <a:rPr lang="en-US" altLang="ko-KR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· </a:t>
              </a:r>
              <a:r>
                <a:rPr lang="ko-KR" altLang="en-US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수상내역 현황</a:t>
              </a: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616430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  </a:t>
              </a:r>
              <a:endParaRPr lang="ko-KR" altLang="en-US" sz="20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5" name="제목 114"/>
          <p:cNvSpPr txBox="1">
            <a:spLocks/>
          </p:cNvSpPr>
          <p:nvPr/>
        </p:nvSpPr>
        <p:spPr>
          <a:xfrm>
            <a:off x="-32" y="39106"/>
            <a:ext cx="5724160" cy="329275"/>
          </a:xfrm>
          <a:prstGeom prst="rect">
            <a:avLst/>
          </a:prstGeom>
          <a:effectLst>
            <a:outerShdw blurRad="76200" dir="5400000" algn="ctr" rotWithShape="0">
              <a:sysClr val="windowText" lastClr="000000"/>
            </a:outerShdw>
          </a:effectLst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latinLnBrk="0" hangingPunct="0">
              <a:defRPr/>
            </a:pPr>
            <a:r>
              <a:rPr lang="en-US" altLang="ko-KR" sz="24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5. </a:t>
            </a:r>
            <a:r>
              <a:rPr lang="ko-KR" altLang="en-US" sz="24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지식재산권</a:t>
            </a:r>
            <a:r>
              <a:rPr lang="en-US" altLang="ko-KR" sz="24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,</a:t>
            </a:r>
            <a:r>
              <a:rPr lang="ko-KR" altLang="en-US" sz="24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 인증</a:t>
            </a:r>
            <a:r>
              <a:rPr lang="en-US" altLang="ko-KR" sz="24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, </a:t>
            </a:r>
            <a:r>
              <a:rPr lang="ko-KR" altLang="en-US" sz="24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수상내역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826" y="1444134"/>
            <a:ext cx="83650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각종 특허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인증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디자인 등 내역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증빙사진 포함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경기도 주관행사 창업관련 수상 내역 등 기재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창업진흥원 주관 창업지원패키지 선정 내역 등 기재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0" y="-4786"/>
            <a:ext cx="9144000" cy="1244980"/>
            <a:chOff x="0" y="-21034"/>
            <a:chExt cx="9144000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명조" pitchFamily="2" charset="-127"/>
                <a:ea typeface="휴먼명조" pitchFamily="2" charset="-127"/>
              </a:endParaRP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명조" pitchFamily="2" charset="-127"/>
                <a:ea typeface="휴먼명조" pitchFamily="2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616430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견고딕" pitchFamily="18" charset="-127"/>
                  <a:ea typeface="HY견고딕" pitchFamily="18" charset="-127"/>
                  <a:cs typeface="Arial" pitchFamily="34" charset="0"/>
                </a:rPr>
                <a:t> -     </a:t>
              </a:r>
              <a:endParaRPr lang="ko-KR" altLang="en-US" sz="20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견고딕" pitchFamily="18" charset="-127"/>
                <a:ea typeface="HY견고딕" pitchFamily="18" charset="-127"/>
                <a:cs typeface="Arial" pitchFamily="34" charset="0"/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8" name="제목 114"/>
          <p:cNvSpPr txBox="1">
            <a:spLocks/>
          </p:cNvSpPr>
          <p:nvPr/>
        </p:nvSpPr>
        <p:spPr>
          <a:xfrm>
            <a:off x="-32" y="39106"/>
            <a:ext cx="4857784" cy="329275"/>
          </a:xfrm>
          <a:prstGeom prst="rect">
            <a:avLst/>
          </a:prstGeom>
          <a:effectLst>
            <a:outerShdw blurRad="76200" dir="5400000" algn="ctr" rotWithShape="0">
              <a:sysClr val="windowText" lastClr="000000"/>
            </a:outerShdw>
          </a:effectLst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latinLnBrk="0" hangingPunct="0">
              <a:defRPr/>
            </a:pPr>
            <a:r>
              <a:rPr lang="en-US" altLang="ko-KR" sz="24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6. </a:t>
            </a:r>
            <a:r>
              <a:rPr lang="ko-KR" altLang="en-US" sz="24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기타사항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26" y="1444134"/>
            <a:ext cx="8365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기타 추가 발표사항 자유롭게 기재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/>
          <p:nvPr/>
        </p:nvSpPr>
        <p:spPr>
          <a:xfrm>
            <a:off x="3149777" y="3337243"/>
            <a:ext cx="3177332" cy="45719"/>
          </a:xfrm>
          <a:custGeom>
            <a:avLst/>
            <a:gdLst>
              <a:gd name="connsiteX0" fmla="*/ 0 w 7879404"/>
              <a:gd name="connsiteY0" fmla="*/ 0 h 0"/>
              <a:gd name="connsiteX1" fmla="*/ 7879404 w 787940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79404">
                <a:moveTo>
                  <a:pt x="0" y="0"/>
                </a:moveTo>
                <a:lnTo>
                  <a:pt x="7879404" y="0"/>
                </a:lnTo>
              </a:path>
            </a:pathLst>
          </a:custGeom>
          <a:noFill/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prstClr val="white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126233" y="2378710"/>
            <a:ext cx="320087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latinLnBrk="0"/>
            <a:r>
              <a:rPr lang="ko-KR" altLang="en-US" sz="4800" kern="0" spc="-380" dirty="0">
                <a:ln w="11430"/>
                <a:gradFill>
                  <a:gsLst>
                    <a:gs pos="44000">
                      <a:srgbClr val="004785">
                        <a:lumMod val="60000"/>
                        <a:lumOff val="40000"/>
                      </a:srgbClr>
                    </a:gs>
                    <a:gs pos="59000">
                      <a:srgbClr val="004785">
                        <a:lumMod val="75000"/>
                      </a:srgbClr>
                    </a:gs>
                    <a:gs pos="100000">
                      <a:srgbClr val="0070C0"/>
                    </a:gs>
                    <a:gs pos="0">
                      <a:srgbClr val="0F243D"/>
                    </a:gs>
                    <a:gs pos="100000">
                      <a:srgbClr val="004785">
                        <a:lumMod val="50000"/>
                      </a:srgbClr>
                    </a:gs>
                  </a:gsLst>
                  <a:lin ang="5400000" scaled="0"/>
                </a:gradFill>
                <a:effectLst>
                  <a:outerShdw blurRad="38100" dist="12700" dir="5400000" algn="tl" rotWithShape="0">
                    <a:srgbClr val="000000">
                      <a:alpha val="30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  <a:r>
              <a:rPr lang="en-US" altLang="ko-KR" sz="4800" kern="0" spc="-380" dirty="0">
                <a:ln w="11430"/>
                <a:gradFill>
                  <a:gsLst>
                    <a:gs pos="44000">
                      <a:srgbClr val="004785">
                        <a:lumMod val="60000"/>
                        <a:lumOff val="40000"/>
                      </a:srgbClr>
                    </a:gs>
                    <a:gs pos="59000">
                      <a:srgbClr val="004785">
                        <a:lumMod val="75000"/>
                      </a:srgbClr>
                    </a:gs>
                    <a:gs pos="100000">
                      <a:srgbClr val="0070C0"/>
                    </a:gs>
                    <a:gs pos="0">
                      <a:srgbClr val="0F243D"/>
                    </a:gs>
                    <a:gs pos="100000">
                      <a:srgbClr val="004785">
                        <a:lumMod val="50000"/>
                      </a:srgbClr>
                    </a:gs>
                  </a:gsLst>
                  <a:lin ang="5400000" scaled="0"/>
                </a:gradFill>
                <a:effectLst>
                  <a:outerShdw blurRad="38100" dist="12700" dir="5400000" algn="tl" rotWithShape="0">
                    <a:srgbClr val="000000">
                      <a:alpha val="30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4800" kern="0" spc="-380" dirty="0">
              <a:ln w="11430"/>
              <a:gradFill>
                <a:gsLst>
                  <a:gs pos="44000">
                    <a:srgbClr val="004785">
                      <a:lumMod val="60000"/>
                      <a:lumOff val="40000"/>
                    </a:srgbClr>
                  </a:gs>
                  <a:gs pos="59000">
                    <a:srgbClr val="004785">
                      <a:lumMod val="75000"/>
                    </a:srgbClr>
                  </a:gs>
                  <a:gs pos="100000">
                    <a:srgbClr val="0070C0"/>
                  </a:gs>
                  <a:gs pos="0">
                    <a:srgbClr val="0F243D"/>
                  </a:gs>
                  <a:gs pos="100000">
                    <a:srgbClr val="004785">
                      <a:lumMod val="50000"/>
                    </a:srgbClr>
                  </a:gs>
                </a:gsLst>
                <a:lin ang="5400000" scaled="0"/>
              </a:gradFill>
              <a:effectLst>
                <a:outerShdw blurRad="38100" dist="12700" dir="5400000" algn="tl" rotWithShape="0">
                  <a:srgbClr val="000000">
                    <a:alpha val="30000"/>
                  </a:srgb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" y="0"/>
            <a:ext cx="533399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63482" y="311128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163482" y="811194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63482" y="1277922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163482" y="1777988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163482" y="2239954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163482" y="2740020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163482" y="3240086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163482" y="3740152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63482" y="4240218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163482" y="4740284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63482" y="5283212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163482" y="5783278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163482" y="6283344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슬라이드 번호 개체 틀 31"/>
          <p:cNvSpPr>
            <a:spLocks noGrp="1"/>
          </p:cNvSpPr>
          <p:nvPr>
            <p:ph type="sldNum" sz="quarter" idx="12"/>
          </p:nvPr>
        </p:nvSpPr>
        <p:spPr>
          <a:xfrm>
            <a:off x="6985000" y="6483350"/>
            <a:ext cx="2133600" cy="365125"/>
          </a:xfrm>
        </p:spPr>
        <p:txBody>
          <a:bodyPr/>
          <a:lstStyle/>
          <a:p>
            <a:fld id="{5A37A3E3-25FC-48B3-9BA0-5257658B7511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269</Words>
  <Application>Microsoft Office PowerPoint</Application>
  <PresentationFormat>화면 슬라이드 쇼(4:3)</PresentationFormat>
  <Paragraphs>54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HY견고딕</vt:lpstr>
      <vt:lpstr>HY헤드라인M</vt:lpstr>
      <vt:lpstr>맑은 고딕</vt:lpstr>
      <vt:lpstr>-윤고딕330</vt:lpstr>
      <vt:lpstr>휴먼명조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최영준</dc:creator>
  <cp:lastModifiedBy>user</cp:lastModifiedBy>
  <cp:revision>252</cp:revision>
  <dcterms:created xsi:type="dcterms:W3CDTF">2017-02-27T05:23:08Z</dcterms:created>
  <dcterms:modified xsi:type="dcterms:W3CDTF">2026-02-23T04:57:54Z</dcterms:modified>
</cp:coreProperties>
</file>