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280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Fryndo AR Companion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</a:defRPr>
            </a:pPr>
            <a:r>
              <a:t>언어가 달라도 함께 여행하는 AR 동행 서비스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4754880"/>
            <a:ext cx="365760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2026 예비창업패키지 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발표자: 김다운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12121"/>
                </a:solidFill>
              </a:defRPr>
            </a:pPr>
            <a:r>
              <a:t>1. 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8346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12121"/>
                </a:solidFill>
              </a:defRPr>
            </a:pPr>
            <a:r>
              <a:t>2. 솔루션 &amp; 핵심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12121"/>
                </a:solidFill>
              </a:defRPr>
            </a:pPr>
            <a:r>
              <a:t>3. 사용자 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846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12121"/>
                </a:solidFill>
              </a:defRPr>
            </a:pPr>
            <a:r>
              <a:t>4. 데모 시연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8521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12121"/>
                </a:solidFill>
              </a:defRPr>
            </a:pPr>
            <a:r>
              <a:t>5. 기존 MVP 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12121"/>
                </a:solidFill>
              </a:defRPr>
            </a:pPr>
            <a:r>
              <a:t>6. 시장 분석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8346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12121"/>
                </a:solidFill>
              </a:defRPr>
            </a:pPr>
            <a:r>
              <a:t>7. 경쟁력 &amp; 비즈니스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840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12121"/>
                </a:solidFill>
              </a:defRPr>
            </a:pPr>
            <a:r>
              <a:t>8. 팀 &amp; 로드맵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846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12121"/>
                </a:solidFill>
              </a:defRPr>
            </a:pPr>
            <a:r>
              <a:t>9. 자금 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8521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12121"/>
                </a:solidFill>
              </a:defRPr>
            </a:pPr>
            <a:r>
              <a:t>10. 리스크 대응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문제 정의 ①  언어 장벽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757575"/>
                </a:solidFill>
              </a:defRPr>
            </a:pPr>
            <a:r>
              <a:t>해외여행 중 외국인과 함께하게 되면...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41148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79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212121"/>
                </a:solidFill>
              </a:defRPr>
            </a:pPr>
            <a:r>
              <a:t>🗣️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12121"/>
                </a:solidFill>
              </a:defRPr>
            </a:pPr>
            <a:r>
              <a:t>대화 단절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356616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말이 안 통해서</a:t>
            </a:r>
            <a:br/>
            <a:r>
              <a:t>어색한 침묵이 계속됨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2194560"/>
            <a:ext cx="41148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2468879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212121"/>
                </a:solidFill>
              </a:defRPr>
            </a:pPr>
            <a:r>
              <a:t>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31089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12121"/>
                </a:solidFill>
              </a:defRPr>
            </a:pPr>
            <a:r>
              <a:t>번역 앱 한계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3566160"/>
            <a:ext cx="356616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1:1만 지원</a:t>
            </a:r>
            <a:br/>
            <a:r>
              <a:t>3명 이상 그룹은 불가능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2194560"/>
            <a:ext cx="41148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0" y="2468879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212121"/>
                </a:solidFill>
              </a:defRPr>
            </a:pPr>
            <a:r>
              <a:t>⏱️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089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12121"/>
                </a:solidFill>
              </a:defRPr>
            </a:pPr>
            <a:r>
              <a:t>시간 낭비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566160"/>
            <a:ext cx="356616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일일이 번역하느라</a:t>
            </a:r>
            <a:br/>
            <a:r>
              <a:t>여행을 제대로 못 즐김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5303520"/>
            <a:ext cx="10972800" cy="16459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12121"/>
                </a:solidFill>
              </a:defRPr>
            </a:pPr>
            <a:r>
              <a:t>💬 실제 여행자 후기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5943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57575"/>
                </a:solidFill>
              </a:defRPr>
            </a:pPr>
            <a:r>
              <a:t>"일본인, 미국인이랑 같이 여행했는데 번역 앱으로 한 명씩 말해야 해서 너무 불편했어요.</a:t>
            </a:r>
            <a:br/>
            <a:r>
              <a:t>그룹 대화가 되는 앱이 있으면 좋겠다고 생각했어요."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문제 정의 ②  만남 &amp; 길찾기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</a:defRPr>
            </a:pPr>
            <a:r>
              <a:t>🤝 동행자 만남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약속 장소에 도착했는데 서로 못 찾음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사람 많은 곳에서 전화해도 설명 어려움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외모 특징 설명하기 난감 (외국인끼리)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30분 이상 헤매다 지침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</a:defRPr>
            </a:pPr>
            <a:r>
              <a:t>🗺️ 낯선 도시 길찾기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2860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지도 앱 보느라 고개 숙이고 걸음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주변 풍경을 제대로 못 봄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동행자들이 뿔뿔이 흩어짐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여행의 즐거움 반감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303520"/>
            <a:ext cx="12801600" cy="18288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48640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5722"/>
                </a:solidFill>
              </a:defRPr>
            </a:pPr>
            <a:r>
              <a:t>⚠️ 기존 솔루션의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603504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12121"/>
                </a:solidFill>
              </a:defRPr>
            </a:pPr>
            <a:r>
              <a:t>번역 앱: 1:1만 지원  |  지도 앱: 화면 계속 봐야 함  |  여행 앱: 기능이 분리됨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Fryndo AR Companion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여행 동행의 모든 문제를 AR로 해결합니다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572000"/>
            <a:ext cx="347472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47548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212121"/>
                </a:solidFill>
              </a:defRPr>
            </a:pPr>
            <a:r>
              <a:t>🗣️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394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962FF"/>
                </a:solidFill>
              </a:defRPr>
            </a:pPr>
            <a:r>
              <a:t>그룹 번역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9436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57575"/>
                </a:solidFill>
              </a:defRPr>
            </a:pPr>
            <a:r>
              <a:t>3명 이상</a:t>
            </a:r>
            <a:br/>
            <a:r>
              <a:t>실시간 번역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4572000"/>
            <a:ext cx="347472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47548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212121"/>
                </a:solidFill>
              </a:defRPr>
            </a:pPr>
            <a:r>
              <a:t>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5394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962FF"/>
                </a:solidFill>
              </a:defRPr>
            </a:pPr>
            <a:r>
              <a:t>AR 찾기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59436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57575"/>
                </a:solidFill>
              </a:defRPr>
            </a:pPr>
            <a:r>
              <a:t>동행자 위치</a:t>
            </a:r>
            <a:br/>
            <a:r>
              <a:t>AR 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4572000"/>
            <a:ext cx="347472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0" y="47548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212121"/>
                </a:solidFill>
              </a:defRPr>
            </a:pPr>
            <a:r>
              <a:t>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5394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962FF"/>
                </a:solidFill>
              </a:defRPr>
            </a:pPr>
            <a:r>
              <a:t>AR 길안내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9436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57575"/>
                </a:solidFill>
              </a:defRPr>
            </a:pPr>
            <a:r>
              <a:t>화살표로</a:t>
            </a:r>
            <a:br/>
            <a:r>
              <a:t>직관적 안내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핵심 기능 ①  실시간 그룹 번역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962FF"/>
                </a:solidFill>
              </a:defRPr>
            </a:pPr>
            <a:r>
              <a:t>3명 이상 다국어 동시 번역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음성 인식 → 텍스트 → 번역 → 자막 표시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한국어, 영어, 일본어, 중국어 등 20개 언어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그룹 채팅방에서 각자 모국어로 표시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음성 + 텍스트 동시 지원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오프라인 모드 지원 (향후)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57575"/>
                </a:solidFill>
              </a:defRPr>
            </a:pPr>
            <a:r>
              <a:t>사용 기술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57575"/>
                </a:solidFill>
              </a:defRPr>
            </a:pPr>
            <a:r>
              <a:t>음성인식: Whisper API  |  번역: DeepL 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645920"/>
            <a:ext cx="5943600" cy="54864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💬 그룹 채팅 시뮬레이션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</a:defRPr>
            </a:pPr>
            <a:r>
              <a:t>🇺🇸 Mike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88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12121"/>
                </a:solidFill>
              </a:defRPr>
            </a:pPr>
            <a:r>
              <a:t>Let's grab some ramen!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08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962FF"/>
                </a:solidFill>
              </a:defRPr>
            </a:pPr>
            <a:r>
              <a:t>→ 라멘 먹으러 가자!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</a:defRPr>
            </a:pPr>
            <a:r>
              <a:t>🇯🇵 Yuki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977639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12121"/>
                </a:solidFill>
              </a:defRPr>
            </a:pPr>
            <a:r>
              <a:t>いいね！この近くにおいしい店がある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297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962FF"/>
                </a:solidFill>
              </a:defRPr>
            </a:pPr>
            <a:r>
              <a:t>→ 좋아! 이 근처에 맛있는 집 있어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846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</a:defRPr>
            </a:pPr>
            <a:r>
              <a:t>🇰🇷 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5166359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12121"/>
                </a:solidFill>
              </a:defRPr>
            </a:pPr>
            <a:r>
              <a:t>좋아요! 어디로 가면 돼요?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5486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962FF"/>
                </a:solidFill>
              </a:defRPr>
            </a:pPr>
            <a:r>
              <a:t>→ Where should we go?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핵심 기능 ②  AR 동행자 찾기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962FF"/>
                </a:solidFill>
              </a:defRPr>
            </a:pPr>
            <a:r>
              <a:t>카메라로 주변 스캔, 동행자 위치 AR 표시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스마트폰 카메라로 주변 스캔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동행자 프로필 + 거리 AR 오버레이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"3시 방향 15m" 직관적 표시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GPS + 블루투스 기반 정확한 위치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프로필 사진으로 쉽게 구분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57575"/>
                </a:solidFill>
              </a:defRPr>
            </a:pPr>
            <a:r>
              <a:t>사용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57575"/>
                </a:solidFill>
              </a:defRPr>
            </a:pPr>
            <a:r>
              <a:t>약속 장소 도착 → 앱 실행 → 카메라 스캔 → 동행자 발견!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645920"/>
            <a:ext cx="5943600" cy="5486400"/>
          </a:xfrm>
          <a:prstGeom prst="roundRect">
            <a:avLst/>
          </a:prstGeom>
          <a:solidFill>
            <a:srgbClr val="323232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📷 AR 카메라 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3200400"/>
            <a:ext cx="2286000" cy="1371600"/>
          </a:xfrm>
          <a:prstGeom prst="round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🇺🇸 Mike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37490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15m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4206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3시 방향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217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</a:defRPr>
            </a:pPr>
            <a:r>
              <a:t>※ 실제 카메라 영상 위에 AR 정보가 오버레이됩니다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핵심 기능 ③  AR 길안내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962FF"/>
                </a:solidFill>
              </a:defRPr>
            </a:pPr>
            <a:r>
              <a:t>화면에 화살표, 지도 안 봐도 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카메라 화면에 방향 화살표 오버레이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목적지까지 남은 거리 실시간 표시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동행자 위치도 함께 표시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그룹 전체가 같은 목적지 공유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음성 안내 병행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57575"/>
                </a:solidFill>
              </a:defRPr>
            </a:pPr>
            <a:r>
              <a:t>기존 지도 앱 대비 장점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CAF50"/>
                </a:solidFill>
              </a:defRPr>
            </a:pPr>
            <a:r>
              <a:t>고개 안 숙여도 됨 → 주변 풍경 즐기면서 이동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645920"/>
            <a:ext cx="5943600" cy="5486400"/>
          </a:xfrm>
          <a:prstGeom prst="roundRect">
            <a:avLst/>
          </a:prstGeom>
          <a:solidFill>
            <a:srgbClr val="3C3C3C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🧭 AR 내비게이션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0">
                <a:solidFill>
                  <a:srgbClr val="4CAF50"/>
                </a:solidFill>
              </a:defRPr>
            </a:pPr>
            <a:r>
              <a:t>⬆️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5029200"/>
            <a:ext cx="365760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5120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12121"/>
                </a:solidFill>
              </a:defRPr>
            </a:pPr>
            <a:r>
              <a:t>🍜 이치란 라멘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5577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962FF"/>
                </a:solidFill>
              </a:defRPr>
            </a:pPr>
            <a:r>
              <a:t>직진 200m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사용자 시나리오: 도쿄 여행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011680"/>
            <a:ext cx="640080" cy="640080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</a:defRPr>
            </a:pPr>
            <a:r>
              <a:t>매칭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한국인 A, 미국인 B,</a:t>
            </a:r>
            <a:br/>
            <a:r>
              <a:t>일본인 C가 Fryndo로</a:t>
            </a:r>
            <a:br/>
            <a:r>
              <a:t>동행 매칭</a:t>
            </a:r>
          </a:p>
        </p:txBody>
      </p:sp>
      <p:sp>
        <p:nvSpPr>
          <p:cNvPr id="8" name="Oval 7"/>
          <p:cNvSpPr/>
          <p:nvPr/>
        </p:nvSpPr>
        <p:spPr>
          <a:xfrm>
            <a:off x="3657600" y="2011680"/>
            <a:ext cx="640080" cy="640080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834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</a:defRPr>
            </a:pPr>
            <a:r>
              <a:t>만남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3832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시부야역 하치코 앞</a:t>
            </a:r>
            <a:br/>
            <a:r>
              <a:t>약속, AR로 서로</a:t>
            </a:r>
            <a:br/>
            <a:r>
              <a:t>쉽게 찾음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2011680"/>
            <a:ext cx="640080" cy="640080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834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</a:defRPr>
            </a:pPr>
            <a:r>
              <a:t>대화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3832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3개 국어 실시간</a:t>
            </a:r>
            <a:br/>
            <a:r>
              <a:t>번역으로 자연스럽게</a:t>
            </a:r>
            <a:br/>
            <a:r>
              <a:t>대화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0" y="2011680"/>
            <a:ext cx="640080" cy="640080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21031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834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</a:defRPr>
            </a:pPr>
            <a:r>
              <a:t>이동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3832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AR 길안내로</a:t>
            </a:r>
            <a:br/>
            <a:r>
              <a:t>라멘집까지</a:t>
            </a:r>
            <a:br/>
            <a:r>
              <a:t>함께 이동</a:t>
            </a:r>
          </a:p>
        </p:txBody>
      </p:sp>
      <p:sp>
        <p:nvSpPr>
          <p:cNvPr id="20" name="Oval 19"/>
          <p:cNvSpPr/>
          <p:nvPr/>
        </p:nvSpPr>
        <p:spPr>
          <a:xfrm>
            <a:off x="11887200" y="2011680"/>
            <a:ext cx="640080" cy="640080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0" y="21031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0" y="2834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</a:defRPr>
            </a:pPr>
            <a:r>
              <a:t>여행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33832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언어 장벽 없이</a:t>
            </a:r>
            <a:br/>
            <a:r>
              <a:t>즐거운 여행</a:t>
            </a:r>
            <a:br/>
            <a:r>
              <a:t>완성!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2148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148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2148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148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5303520"/>
            <a:ext cx="12801600" cy="1828800"/>
          </a:xfrm>
          <a:prstGeom prst="roundRect">
            <a:avLst/>
          </a:prstGeom>
          <a:solidFill>
            <a:srgbClr val="E8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0" y="548640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962FF"/>
                </a:solidFill>
              </a:defRPr>
            </a:pPr>
            <a:r>
              <a:t>💡 핵심 가치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603504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12121"/>
                </a:solidFill>
              </a:defRPr>
            </a:pPr>
            <a:r>
              <a:t>처음 만난 외국인과도 오랜 친구처럼 여행할 수 있는 경험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757575"/>
                </a:solidFill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280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🎬 데모 영상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4114800"/>
            <a:ext cx="7315200" cy="182880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57575"/>
                </a:solidFill>
              </a:defRPr>
            </a:pPr>
            <a:r>
              <a:t>▶️  45초 데모 영상 삽입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52120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57575"/>
                </a:solidFill>
              </a:defRPr>
            </a:pPr>
            <a:r>
              <a:t>그룹 번역 → AR 동행자 찾기 → AR 길안내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85800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※ 현재 개발 중이며, 목업 기반 데모입니다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기존 Fryndo MVP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962FF"/>
                </a:solidFill>
              </a:defRPr>
            </a:pPr>
            <a:r>
              <a:t>이미 검증된 동행 매칭 MVP 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여행 동행자 매칭 기능 구현 완료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실시간 채팅 기능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여행 일정 공유 기능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React Native 크로스플랫폼 앱</a:t>
            </a:r>
          </a:p>
          <a:p>
            <a:pPr>
              <a:spcAft>
                <a:spcPts val="1200"/>
              </a:spcAft>
              <a:defRPr sz="2000">
                <a:solidFill>
                  <a:srgbClr val="212121"/>
                </a:solidFill>
              </a:defRPr>
            </a:pPr>
            <a:r>
              <a:t>• Node.js 백엔드 (Koyeb 배포)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029200"/>
            <a:ext cx="6400800" cy="201168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2120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CAF50"/>
                </a:solidFill>
              </a:defRPr>
            </a:pPr>
            <a:r>
              <a:t>✅ MVP 개발 현황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12121"/>
                </a:solidFill>
              </a:defRPr>
            </a:pPr>
            <a:r>
              <a:t>• 핵심 기능 개발 완료</a:t>
            </a:r>
            <a:br/>
            <a:r>
              <a:t>• 내부 테스트 진행 중</a:t>
            </a:r>
            <a:br/>
            <a:r>
              <a:t>• AR 기능 확장 준비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6459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</a:defRPr>
            </a:pPr>
            <a:r>
              <a:t>📱 Fryndo MVP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194560"/>
            <a:ext cx="1828800" cy="36576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3657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동행 매칭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114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</a:defRPr>
            </a:pPr>
            <a:r>
              <a:t>[스크린샷]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2194560"/>
            <a:ext cx="1828800" cy="36576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0" y="3657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채팅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4114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</a:defRPr>
            </a:pPr>
            <a:r>
              <a:t>[스크린샷]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795760" y="2194560"/>
            <a:ext cx="1828800" cy="36576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95760" y="3657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일정 공유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95760" y="4114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</a:defRPr>
            </a:pPr>
            <a:r>
              <a:t>[스크린샷]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62179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</a:defRPr>
            </a:pPr>
            <a:r>
              <a:t>※ 실제 앱 스크린샷으로 교체 필요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기술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0" y="1645920"/>
            <a:ext cx="3657600" cy="1097280"/>
          </a:xfrm>
          <a:prstGeom prst="round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0" y="1828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📱 Fryndo AR Companion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React Native +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8346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57575"/>
                </a:solidFill>
              </a:defRPr>
            </a:pPr>
            <a: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3383280"/>
            <a:ext cx="3657600" cy="10972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0" y="3566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🖥️ Fryndo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023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Node.js (Koyeb)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74903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57575"/>
                </a:solidFill>
              </a:defRPr>
            </a:pPr>
            <a:r>
              <a:t>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374903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3383280"/>
            <a:ext cx="2560320" cy="9144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474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</a:defRPr>
            </a:pPr>
            <a:r>
              <a:t>🗣️ 번역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840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</a:defRPr>
            </a:pPr>
            <a:r>
              <a:t>DeepL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4846320"/>
            <a:ext cx="2560320" cy="9144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93775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</a:defRPr>
            </a:pPr>
            <a:r>
              <a:t>🎤 음성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303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</a:defRPr>
            </a:pPr>
            <a:r>
              <a:t>Whisper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0" y="3383280"/>
            <a:ext cx="2560320" cy="9144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0" y="3474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</a:defRPr>
            </a:pPr>
            <a:r>
              <a:t>🗺️ 지도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3840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</a:defRPr>
            </a:pPr>
            <a:r>
              <a:t>Google Maps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0" y="4846320"/>
            <a:ext cx="2560320" cy="9144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0" y="493775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</a:defRPr>
            </a:pPr>
            <a:r>
              <a:t>📍 위치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5303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</a:defRPr>
            </a:pPr>
            <a:r>
              <a:t>GPS/BLE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40080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57575"/>
                </a:solidFill>
              </a:defRPr>
            </a:pPr>
            <a:r>
              <a:t>Frontend: React Native  |  AR: ARCore/ARKit  |  Backend: Node.js  |  Infra: Koyeb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시장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</a:defRPr>
            </a:pPr>
            <a:r>
              <a:t>🌍 TAM (전체 시장)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57575"/>
                </a:solidFill>
              </a:defRPr>
            </a:pPr>
            <a:r>
              <a:t>글로벌 해외여행자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962FF"/>
                </a:solidFill>
              </a:defRPr>
            </a:pPr>
            <a:r>
              <a:t>15억 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57575"/>
                </a:solidFill>
              </a:defRPr>
            </a:pPr>
            <a:r>
              <a:t>연간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</a:defRPr>
            </a:pPr>
            <a:r>
              <a:t>출처: UNWTO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645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</a:defRPr>
            </a:pPr>
            <a:r>
              <a:t>🇰🇷 SAM (유효 시장)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21945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57575"/>
                </a:solidFill>
              </a:defRPr>
            </a:pPr>
            <a:r>
              <a:t>한국 출국 + 방한 외국인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517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962FF"/>
                </a:solidFill>
              </a:defRPr>
            </a:pPr>
            <a:r>
              <a:t>4,500만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57575"/>
                </a:solidFill>
              </a:defRPr>
            </a:pPr>
            <a:r>
              <a:t>연간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3931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</a:defRPr>
            </a:pPr>
            <a:r>
              <a:t>출처: 한국관광공사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1645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</a:defRPr>
            </a:pPr>
            <a:r>
              <a:t>🎯 SOM (목표 시장)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1945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57575"/>
                </a:solidFill>
              </a:defRPr>
            </a:pPr>
            <a:r>
              <a:t>다국적 그룹 여행자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6517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5722"/>
                </a:solidFill>
              </a:defRPr>
            </a:pPr>
            <a:r>
              <a:t>100만 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57575"/>
                </a:solidFill>
              </a:defRPr>
            </a:pPr>
            <a:r>
              <a:t>연간 추정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3931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</a:defRPr>
            </a:pPr>
            <a:r>
              <a:t>자체 추정치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572000"/>
            <a:ext cx="13167360" cy="25603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475488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</a:defRPr>
            </a:pPr>
            <a:r>
              <a:t>📈 시장 트렌드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303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962FF"/>
                </a:solidFill>
              </a:defRPr>
            </a:pPr>
            <a:r>
              <a:t>✓ 해외여행 폭발적 회복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7607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57575"/>
                </a:solidFill>
              </a:defRPr>
            </a:pPr>
            <a:r>
              <a:t>2024년 한국인 출국 2,800만 명</a:t>
            </a:r>
            <a:br/>
            <a:r>
              <a:t>(한국관광공사)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5303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962FF"/>
                </a:solidFill>
              </a:defRPr>
            </a:pPr>
            <a:r>
              <a:t>✓ 다국적 여행 증가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57607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57575"/>
                </a:solidFill>
              </a:defRPr>
            </a:pPr>
            <a:r>
              <a:t>SNS 기반 글로벌 친구 만들기</a:t>
            </a:r>
            <a:br/>
            <a:r>
              <a:t>트렌드 확산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5303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962FF"/>
                </a:solidFill>
              </a:defRPr>
            </a:pPr>
            <a:r>
              <a:t>✓ AR 기술 대중화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57607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57575"/>
                </a:solidFill>
              </a:defRPr>
            </a:pPr>
            <a:r>
              <a:t>iOS/Android 기기 90%+</a:t>
            </a:r>
            <a:br/>
            <a:r>
              <a:t>AR 지원 (Apple/Google)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경쟁력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기능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5544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Google</a:t>
            </a:r>
            <a:br/>
            <a:r>
              <a:t>번역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5544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Papago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트리플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15544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962FF"/>
                </a:solidFill>
              </a:defRPr>
            </a:pPr>
            <a:r>
              <a:t>Fryndo</a:t>
            </a:r>
            <a:br/>
            <a:r>
              <a:t>AR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13167360" cy="18288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12121"/>
                </a:solidFill>
              </a:defRPr>
            </a:pPr>
            <a:r>
              <a:t>그룹 번역 (3명+)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CAF50"/>
                </a:solidFill>
              </a:defRPr>
            </a:pPr>
            <a:r>
              <a:t>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12121"/>
                </a:solidFill>
              </a:defRPr>
            </a:pPr>
            <a:r>
              <a:t>실시간 음성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017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CAF50"/>
                </a:solidFill>
              </a:defRPr>
            </a:pPr>
            <a: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017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CAF50"/>
                </a:solidFill>
              </a:defRPr>
            </a:pPr>
            <a: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017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3017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CAF50"/>
                </a:solidFill>
              </a:defRPr>
            </a:pPr>
            <a:r>
              <a:t>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566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12121"/>
                </a:solidFill>
              </a:defRPr>
            </a:pPr>
            <a:r>
              <a:t>AR 기능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566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566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3566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566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CAF50"/>
                </a:solidFill>
              </a:defRPr>
            </a:pPr>
            <a: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114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12121"/>
                </a:solidFill>
              </a:defRPr>
            </a:pPr>
            <a:r>
              <a:t>동행 매칭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114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4114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4114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CAF50"/>
                </a:solidFill>
              </a:defRPr>
            </a:pPr>
            <a:r>
              <a:t>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12121"/>
                </a:solidFill>
              </a:defRPr>
            </a:pPr>
            <a:r>
              <a:t>여행 일정 공유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CAF50"/>
                </a:solidFill>
              </a:defRPr>
            </a:pPr>
            <a:r>
              <a:t>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CAF50"/>
                </a:solidFill>
              </a:defRPr>
            </a:pPr>
            <a:r>
              <a:t>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12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12121"/>
                </a:solidFill>
              </a:defRPr>
            </a:pPr>
            <a:r>
              <a:t>위치 공유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212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212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5212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C107"/>
                </a:solidFill>
              </a:defRPr>
            </a:pPr>
            <a:r>
              <a:t>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20" y="5212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CAF50"/>
                </a:solidFill>
              </a:defRPr>
            </a:pPr>
            <a:r>
              <a:t>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5943600"/>
            <a:ext cx="13167360" cy="11887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6126480"/>
            <a:ext cx="1234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🏆 핵심 차별점: 번역 앱도, 여행 앱도 아닌 '다국적 동행 특화 플랫폼' + AR 기술의 유일한 결합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비즈니스 모델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114800" cy="292608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12121"/>
                </a:solidFill>
              </a:defRPr>
            </a:pPr>
            <a:r>
              <a:t>Free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12121"/>
                </a:solidFill>
              </a:defRPr>
            </a:pPr>
            <a:r>
              <a:t>₩0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757575"/>
                </a:solidFill>
              </a:defRPr>
            </a:pPr>
            <a:r>
              <a:t>• 월 30분 번역</a:t>
            </a:r>
          </a:p>
          <a:p>
            <a:pPr>
              <a:spcAft>
                <a:spcPts val="1200"/>
              </a:spcAft>
              <a:defRPr sz="1500">
                <a:solidFill>
                  <a:srgbClr val="757575"/>
                </a:solidFill>
              </a:defRPr>
            </a:pPr>
            <a:r>
              <a:t>• 기본 AR 기능</a:t>
            </a:r>
          </a:p>
          <a:p>
            <a:pPr>
              <a:spcAft>
                <a:spcPts val="1200"/>
              </a:spcAft>
              <a:defRPr sz="1500">
                <a:solidFill>
                  <a:srgbClr val="757575"/>
                </a:solidFill>
              </a:defRPr>
            </a:pPr>
            <a:r>
              <a:t>• 동행 매칭 3회/월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645920"/>
            <a:ext cx="4114800" cy="2926080"/>
          </a:xfrm>
          <a:prstGeom prst="round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Plus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1945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₩9,900/월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✓ 무제한 번역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✓ 전체 AR 기능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✓ 무제한 매칭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0" y="1645920"/>
            <a:ext cx="3657600" cy="2926080"/>
          </a:xfrm>
          <a:prstGeom prst="round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0" y="17373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B2B (향후)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194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별도 협의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8346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여행사 제휴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관광청 협업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</a:defRPr>
            </a:pPr>
            <a:r>
              <a:t>📊 1년차 목표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57575"/>
                </a:solidFill>
              </a:defRPr>
            </a:pPr>
            <a:r>
              <a:t>앱 다운로드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035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962FF"/>
                </a:solidFill>
              </a:defRPr>
            </a:pPr>
            <a:r>
              <a:t>10,000회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57575"/>
                </a:solidFill>
              </a:defRPr>
            </a:pPr>
            <a:r>
              <a:t>활성 사용자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035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962FF"/>
                </a:solidFill>
              </a:defRPr>
            </a:pPr>
            <a:r>
              <a:t>1,000명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57575"/>
                </a:solidFill>
              </a:defRPr>
            </a:pPr>
            <a:r>
              <a:t>유료 전환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6035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962FF"/>
                </a:solidFill>
              </a:defRPr>
            </a:pPr>
            <a:r>
              <a:t>100명 (10%)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57575"/>
                </a:solidFill>
              </a:defRPr>
            </a:pPr>
            <a:r>
              <a:t>월 매출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035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962FF"/>
                </a:solidFill>
              </a:defRPr>
            </a:pPr>
            <a:r>
              <a:t>₩990,000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팀 소개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6400800" cy="3657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12121"/>
                </a:solidFill>
              </a:defRPr>
            </a:pPr>
            <a:r>
              <a:t>👤 대표 /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6888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12121"/>
                </a:solidFill>
              </a:defRPr>
            </a:pPr>
            <a:r>
              <a:t>• React Native / Node.js 풀스택 개발</a:t>
            </a:r>
          </a:p>
          <a:p>
            <a:pPr>
              <a:spcAft>
                <a:spcPts val="1200"/>
              </a:spcAft>
              <a:defRPr sz="1800">
                <a:solidFill>
                  <a:srgbClr val="212121"/>
                </a:solidFill>
              </a:defRPr>
            </a:pPr>
            <a:r>
              <a:t>• Fryndo MVP 단독 개발 완료</a:t>
            </a:r>
          </a:p>
          <a:p>
            <a:pPr>
              <a:spcAft>
                <a:spcPts val="1200"/>
              </a:spcAft>
              <a:defRPr sz="1800">
                <a:solidFill>
                  <a:srgbClr val="212121"/>
                </a:solidFill>
              </a:defRPr>
            </a:pPr>
            <a:r>
              <a:t>• 5~10년차 소프트웨어 엔지니어</a:t>
            </a:r>
          </a:p>
          <a:p>
            <a:pPr>
              <a:spcAft>
                <a:spcPts val="1200"/>
              </a:spcAft>
              <a:defRPr sz="1800">
                <a:solidFill>
                  <a:srgbClr val="212121"/>
                </a:solidFill>
              </a:defRPr>
            </a:pPr>
            <a:r>
              <a:t>• 스타트업 개발 경험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6459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</a:defRPr>
            </a:pPr>
            <a:r>
              <a:t>🤝 협업 파트너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962FF"/>
                </a:solidFill>
              </a:defRPr>
            </a:pPr>
            <a:r>
              <a:t>AR 개발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전문 외주 협업 예정</a:t>
            </a:r>
            <a:br/>
            <a:r>
              <a:t>(ARCore/ARKit 경험자)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657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962FF"/>
                </a:solidFill>
              </a:defRPr>
            </a:pPr>
            <a:r>
              <a:t>UI/UX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36576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크몽/숨고 활용</a:t>
            </a:r>
            <a:br/>
            <a:r>
              <a:t>(여행 앱 포트폴리오)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962FF"/>
                </a:solidFill>
              </a:defRPr>
            </a:pPr>
            <a:r>
              <a:t>QA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50292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베타 테스트 시</a:t>
            </a:r>
            <a:br/>
            <a:r>
              <a:t>프리랜서 활용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669280"/>
            <a:ext cx="12801600" cy="1371600"/>
          </a:xfrm>
          <a:prstGeom prst="roundRect">
            <a:avLst/>
          </a:prstGeom>
          <a:solidFill>
            <a:srgbClr val="E8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85216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962FF"/>
                </a:solidFill>
              </a:defRPr>
            </a:pPr>
            <a:r>
              <a:t>💪 팀 강점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630936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12121"/>
                </a:solidFill>
              </a:defRPr>
            </a:pPr>
            <a:r>
              <a:t>이미 개발된 Fryndo MVP 보유  |  빠른 실행력  |  린 스타트업 방식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1년 로드맵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00400" cy="731520"/>
          </a:xfrm>
          <a:prstGeom prst="round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Q1 (1~3월)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</a:defRPr>
            </a:pPr>
            <a:r>
              <a:t>기반 구축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• AR 모듈 개발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• API 연동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• 기존 앱 통합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645920"/>
            <a:ext cx="3200400" cy="7315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737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Q2 (4~6월)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</a:defRPr>
            </a:pPr>
            <a:r>
              <a:t>MVP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108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• 핵심 3기능 구현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566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• 내부 테스트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023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• 버그 수정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1645920"/>
            <a:ext cx="3200400" cy="731520"/>
          </a:xfrm>
          <a:prstGeom prst="round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1737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Q3 (7~9월)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</a:defRPr>
            </a:pPr>
            <a:r>
              <a:t>베타 테스트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108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• 테스터 100명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566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• 실제 여행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023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• 피드백 반영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1645920"/>
            <a:ext cx="3200400" cy="731520"/>
          </a:xfrm>
          <a:prstGeom prst="roundRect">
            <a:avLst/>
          </a:prstGeom>
          <a:solidFill>
            <a:srgbClr val="193C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0" y="1737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Q4 (10~12월)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</a:defRPr>
            </a:pPr>
            <a:r>
              <a:t>정식 출시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59" y="3108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• 앱스토어 출시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59" y="3566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• 1,000명 확보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4023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• BM 검증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2920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</a:defRPr>
            </a:pPr>
            <a:r>
              <a:t>🎯 주요 마일스톤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962FF"/>
                </a:solidFill>
              </a:defRPr>
            </a:pPr>
            <a:r>
              <a:t>3월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6035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AR 프로토타입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962FF"/>
                </a:solidFill>
              </a:defRPr>
            </a:pPr>
            <a:r>
              <a:t>6월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6035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MVP 테스트 완료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962FF"/>
                </a:solidFill>
              </a:defRPr>
            </a:pPr>
            <a:r>
              <a:t>9월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6035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베타 100명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5577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962FF"/>
                </a:solidFill>
              </a:defRPr>
            </a:pPr>
            <a:r>
              <a:t>12월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6035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57575"/>
                </a:solidFill>
              </a:defRPr>
            </a:pPr>
            <a:r>
              <a:t>정식 출시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85800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57575"/>
                </a:solidFill>
              </a:defRPr>
            </a:pPr>
            <a:r>
              <a:t>2년차: AR 안경 연동 (Meta Ray-Ban)  |  B2B 확장  |  글로벌 진출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자금 계획 (예비창업패키지 1억원)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인건비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737360"/>
            <a:ext cx="2926080" cy="365760"/>
          </a:xfrm>
          <a:prstGeom prst="round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962FF"/>
                </a:solidFill>
              </a:defRPr>
            </a:pPr>
            <a: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4,000만원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057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</a:defRPr>
            </a:pPr>
            <a:r>
              <a:t>대표 인건비, 아르바이트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외주 개발비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2697480"/>
            <a:ext cx="182880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0" y="2606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2,500만원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017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</a:defRPr>
            </a:pPr>
            <a:r>
              <a:t>AR 모듈, UI/UX, QA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API 비용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3657600"/>
            <a:ext cx="731520" cy="365760"/>
          </a:xfrm>
          <a:prstGeom prst="round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0" y="3566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5722"/>
                </a:solidFill>
              </a:defRPr>
            </a:pPr>
            <a:r>
              <a:t>10%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1,000만원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977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</a:defRPr>
            </a:pPr>
            <a:r>
              <a:t>번역/음성인식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26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마케팅비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4617720"/>
            <a:ext cx="1097280" cy="3657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0" y="4526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9C27B0"/>
                </a:solidFill>
              </a:defRPr>
            </a:pPr>
            <a:r>
              <a:t>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0" y="4526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1,500만원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937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</a:defRPr>
            </a:pPr>
            <a:r>
              <a:t>SNS 광고, 인플루언서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486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</a:defRPr>
            </a:pPr>
            <a:r>
              <a:t>운영비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0" y="5577840"/>
            <a:ext cx="731520" cy="365760"/>
          </a:xfrm>
          <a:prstGeom prst="round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0" y="5486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757575"/>
                </a:solidFill>
              </a:defRPr>
            </a:pPr>
            <a:r>
              <a:t>10%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0" y="5486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</a:defRPr>
            </a:pPr>
            <a:r>
              <a:t>1,000만원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897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</a:defRPr>
            </a:pPr>
            <a:r>
              <a:t>서버, 기타 경비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6583680"/>
            <a:ext cx="12801600" cy="9144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0" y="676656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12121"/>
                </a:solidFill>
              </a:defRPr>
            </a:pPr>
            <a:r>
              <a:t>💰 자금 조달: 예비창업패키지 1억  →  시드 투자 3억 (MVP 검증 후)  →  시리즈 A (PMF 달성 후)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280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리스크 &amp; 대응 방안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114800" cy="1097280"/>
          </a:xfrm>
          <a:prstGeom prst="roundRect">
            <a:avLst/>
          </a:prstGeom>
          <a:solidFill>
            <a:srgbClr val="FFEBEE"/>
          </a:solidFill>
          <a:ln>
            <a:solidFill>
              <a:srgbClr val="F44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44336"/>
                </a:solidFill>
              </a:defRPr>
            </a:pPr>
            <a:r>
              <a:t>🔧 기술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12121"/>
                </a:solidFill>
              </a:defRPr>
            </a:pPr>
            <a:r>
              <a:t>AR 기능 개발 지연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9659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645920"/>
            <a:ext cx="7772400" cy="10972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737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✅ 대응 방안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1031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12121"/>
                </a:solidFill>
              </a:defRPr>
            </a:pPr>
            <a:r>
              <a:t>외주 개발자 사전 확보</a:t>
            </a:r>
            <a:br/>
            <a:r>
              <a:t>스마트폰 AR 우선 (안경은 향후)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4114800" cy="1097280"/>
          </a:xfrm>
          <a:prstGeom prst="roundRect">
            <a:avLst/>
          </a:prstGeom>
          <a:solidFill>
            <a:srgbClr val="FFEBEE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175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800"/>
                </a:solidFill>
              </a:defRPr>
            </a:pPr>
            <a:r>
              <a:t>📈 시장 리스크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12121"/>
                </a:solidFill>
              </a:defRPr>
            </a:pPr>
            <a:r>
              <a:t>사용자 확보 어려움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2461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926080"/>
            <a:ext cx="7772400" cy="10972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017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✅ 대응 방안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383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12121"/>
                </a:solidFill>
              </a:defRPr>
            </a:pPr>
            <a:r>
              <a:t>기존 여행 커뮤니티 제휴</a:t>
            </a:r>
            <a:br/>
            <a:r>
              <a:t>인플루언서 마케팅 집중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4114800" cy="1097280"/>
          </a:xfrm>
          <a:prstGeom prst="roundRect">
            <a:avLst/>
          </a:prstGeom>
          <a:solidFill>
            <a:srgbClr val="FFEBEE"/>
          </a:solidFill>
          <a:ln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97679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96F3"/>
                </a:solidFill>
              </a:defRPr>
            </a:pPr>
            <a:r>
              <a:t>🏢 경쟁 리스크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709159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12121"/>
                </a:solidFill>
              </a:defRPr>
            </a:pPr>
            <a:r>
              <a:t>대기업 유사 서비스 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526279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206240"/>
            <a:ext cx="7772400" cy="10972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4297679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✅ 대응 방안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663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12121"/>
                </a:solidFill>
              </a:defRPr>
            </a:pPr>
            <a:r>
              <a:t>그룹 여행 니치 시장 집중</a:t>
            </a:r>
            <a:br/>
            <a:r>
              <a:t>빠른 실행으로 선점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486399"/>
            <a:ext cx="4114800" cy="1097280"/>
          </a:xfrm>
          <a:prstGeom prst="roundRect">
            <a:avLst/>
          </a:prstGeom>
          <a:solidFill>
            <a:srgbClr val="FFEBEE"/>
          </a:solidFill>
          <a:ln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577839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C27B0"/>
                </a:solidFill>
              </a:defRPr>
            </a:pPr>
            <a:r>
              <a:t>💰 자금 리스크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89319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12121"/>
                </a:solidFill>
              </a:defRPr>
            </a:pPr>
            <a:r>
              <a:t>예창패 미선정 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5806439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57575"/>
                </a:solidFill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0" y="5486399"/>
            <a:ext cx="7772400" cy="10972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5577839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✅ 대응 방안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5943599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12121"/>
                </a:solidFill>
              </a:defRPr>
            </a:pPr>
            <a:r>
              <a:t>자체 자금으로 최소 MVP 완성</a:t>
            </a:r>
            <a:br/>
            <a:r>
              <a:t>다른 정부지원 재도전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85800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962FF"/>
                </a:solidFill>
              </a:defRPr>
            </a:pPr>
            <a:r>
              <a:t>💡 리스크를 인지하고 선제적으로 대응 방안을 준비하고 있습니다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Our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280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"언어가 달라도,</a:t>
            </a:r>
            <a:br/>
            <a:r>
              <a:t>전 세계 누구와도</a:t>
            </a:r>
            <a:br/>
            <a:r>
              <a:t>함께 여행하는 세상"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5029200"/>
            <a:ext cx="365760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Fryndo AR Companion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58368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감사합니다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280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57575"/>
                </a:solidFill>
              </a:defRPr>
            </a:pPr>
            <a:r>
              <a:t>질문 있으시면 말씀해 주세요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0080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57575"/>
                </a:solidFill>
              </a:defRPr>
            </a:pPr>
            <a:r>
              <a:t>📧 kimdan2@nate.com  |  📱 010-9639-9622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